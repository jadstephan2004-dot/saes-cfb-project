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96167"/>
          </a:solidFill>
          <a:ln w="12700">
            <a:solidFill>
              <a:srgbClr val="F96167"/>
            </a:solidFill>
            <a:prstDash val="solid"/>
          </a:ln>
        </p:spPr>
      </p:sp>
      <p:pic>
        <p:nvPicPr>
          <p:cNvPr id="3" name="Image 0" descr="preencoded.png"/>
          <p:cNvPicPr>
            <a:picLocks noChangeAspect="1"/>
          </p:cNvPicPr>
          <p:nvPr/>
        </p:nvPicPr>
        <p:blipFill>
          <a:blip r:embed="rId1"/>
          <a:stretch>
            <a:fillRect/>
          </a:stretch>
        </p:blipFill>
        <p:spPr>
          <a:xfrm>
            <a:off x="914400" y="1280160"/>
            <a:ext cx="1097280" cy="1097280"/>
          </a:xfrm>
          <a:prstGeom prst="rect">
            <a:avLst/>
          </a:prstGeom>
        </p:spPr>
      </p:pic>
      <p:sp>
        <p:nvSpPr>
          <p:cNvPr id="4" name="Text 1"/>
          <p:cNvSpPr/>
          <p:nvPr/>
        </p:nvSpPr>
        <p:spPr>
          <a:xfrm>
            <a:off x="914400" y="2560320"/>
            <a:ext cx="10058400" cy="640080"/>
          </a:xfrm>
          <a:prstGeom prst="rect">
            <a:avLst/>
          </a:prstGeom>
          <a:noFill/>
        </p:spPr>
        <p:txBody>
          <a:bodyPr wrap="square" lIns="0" tIns="0" rIns="0" bIns="0" rtlCol="0" anchor="ctr"/>
          <a:lstStyle/>
          <a:p>
            <a:pPr marL="0" indent="0">
              <a:buNone/>
            </a:pPr>
            <a:r>
              <a:rPr lang="en-US" sz="2200" dirty="0">
                <a:solidFill>
                  <a:srgbClr val="CADCFC"/>
                </a:solidFill>
                <a:latin typeface="Calibri" panose="020F0502020204030204" pitchFamily="34" charset="0"/>
                <a:ea typeface="Calibri" panose="020F0502020204030204" pitchFamily="34" charset="-122"/>
                <a:cs typeface="Calibri" panose="020F0502020204030204" pitchFamily="34" charset="-120"/>
              </a:rPr>
              <a:t>Hands-On Cryptography</a:t>
            </a:r>
            <a:endParaRPr lang="en-US" sz="2200" dirty="0"/>
          </a:p>
        </p:txBody>
      </p:sp>
      <p:sp>
        <p:nvSpPr>
          <p:cNvPr id="5" name="Text 2"/>
          <p:cNvSpPr/>
          <p:nvPr/>
        </p:nvSpPr>
        <p:spPr>
          <a:xfrm>
            <a:off x="914400" y="3063240"/>
            <a:ext cx="10058400" cy="1097280"/>
          </a:xfrm>
          <a:prstGeom prst="rect">
            <a:avLst/>
          </a:prstGeom>
          <a:noFill/>
        </p:spPr>
        <p:txBody>
          <a:bodyPr wrap="square" lIns="0" tIns="0" rIns="0" bIns="0" rtlCol="0" anchor="ctr"/>
          <a:lstStyle/>
          <a:p>
            <a:pPr marL="0" indent="0">
              <a:buNone/>
            </a:pPr>
            <a:r>
              <a:rPr lang="en-US" sz="6000" b="1" dirty="0">
                <a:solidFill>
                  <a:srgbClr val="FFFFFF"/>
                </a:solidFill>
                <a:latin typeface="Georgia" panose="02040502050405020303" pitchFamily="34" charset="0"/>
                <a:ea typeface="Georgia" panose="02040502050405020303" pitchFamily="34" charset="-122"/>
                <a:cs typeface="Georgia" panose="02040502050405020303" pitchFamily="34" charset="-120"/>
              </a:rPr>
              <a:t>S-AES with CFB Mode</a:t>
            </a:r>
            <a:endParaRPr lang="en-US" sz="6000" dirty="0"/>
          </a:p>
        </p:txBody>
      </p:sp>
      <p:sp>
        <p:nvSpPr>
          <p:cNvPr id="6" name="Text 3"/>
          <p:cNvSpPr/>
          <p:nvPr/>
        </p:nvSpPr>
        <p:spPr>
          <a:xfrm>
            <a:off x="914400" y="4206240"/>
            <a:ext cx="10058400" cy="548640"/>
          </a:xfrm>
          <a:prstGeom prst="rect">
            <a:avLst/>
          </a:prstGeom>
          <a:noFill/>
        </p:spPr>
        <p:txBody>
          <a:bodyPr wrap="square" lIns="0" tIns="0" rIns="0" bIns="0" rtlCol="0" anchor="ctr"/>
          <a:lstStyle/>
          <a:p>
            <a:pPr marL="0" indent="0">
              <a:buNone/>
            </a:pPr>
            <a:r>
              <a:rPr lang="en-US" sz="2000" i="1" dirty="0">
                <a:solidFill>
                  <a:srgbClr val="CADCFC"/>
                </a:solidFill>
                <a:latin typeface="Calibri" panose="020F0502020204030204" pitchFamily="34" charset="0"/>
                <a:ea typeface="Calibri" panose="020F0502020204030204" pitchFamily="34" charset="-122"/>
                <a:cs typeface="Calibri" panose="020F0502020204030204" pitchFamily="34" charset="-120"/>
              </a:rPr>
              <a:t>Implementation, File Encryption, and Brute-Force Cryptanalysis</a:t>
            </a:r>
            <a:endParaRPr lang="en-US" sz="2000" dirty="0"/>
          </a:p>
        </p:txBody>
      </p:sp>
      <p:sp>
        <p:nvSpPr>
          <p:cNvPr id="7" name="Shape 4"/>
          <p:cNvSpPr/>
          <p:nvPr/>
        </p:nvSpPr>
        <p:spPr>
          <a:xfrm>
            <a:off x="914400" y="5120640"/>
            <a:ext cx="2743200" cy="0"/>
          </a:xfrm>
          <a:prstGeom prst="line">
            <a:avLst/>
          </a:prstGeom>
          <a:noFill/>
          <a:ln w="25400">
            <a:solidFill>
              <a:srgbClr val="F96167"/>
            </a:solidFill>
            <a:prstDash val="solid"/>
          </a:ln>
        </p:spPr>
      </p:sp>
      <p:sp>
        <p:nvSpPr>
          <p:cNvPr id="8" name="Text 5"/>
          <p:cNvSpPr/>
          <p:nvPr/>
        </p:nvSpPr>
        <p:spPr>
          <a:xfrm>
            <a:off x="914400" y="5257800"/>
            <a:ext cx="9144000" cy="457200"/>
          </a:xfrm>
          <a:prstGeom prst="rect">
            <a:avLst/>
          </a:prstGeom>
          <a:noFill/>
        </p:spPr>
        <p:txBody>
          <a:bodyPr wrap="square" lIns="0" tIns="0" rIns="0" bIns="0" rtlCol="0" anchor="ctr"/>
          <a:lstStyle/>
          <a:p>
            <a:pPr marL="0" indent="0">
              <a:buNone/>
            </a:pPr>
            <a:r>
              <a:rPr lang="en-US" sz="1600" dirty="0">
                <a:solidFill>
                  <a:schemeClr val="bg1"/>
                </a:solidFill>
              </a:rPr>
              <a:t>                          </a:t>
            </a:r>
            <a:r>
              <a:rPr lang="en-US" sz="1600" i="1" dirty="0">
                <a:solidFill>
                  <a:schemeClr val="bg1"/>
                </a:solidFill>
              </a:rPr>
              <a:t>JAD ESTEPHAN                </a:t>
            </a:r>
            <a:r>
              <a:rPr lang="en-US" sz="1600" dirty="0">
                <a:solidFill>
                  <a:schemeClr val="bg1"/>
                </a:solidFill>
              </a:rPr>
              <a:t>60589</a:t>
            </a:r>
            <a:endParaRPr lang="en-US" sz="1600" dirty="0">
              <a:solidFill>
                <a:schemeClr val="bg1"/>
              </a:solidFill>
            </a:endParaRPr>
          </a:p>
          <a:p>
            <a:pPr marL="0" indent="0">
              <a:buNone/>
            </a:pPr>
            <a:r>
              <a:rPr lang="en-US" sz="1600" dirty="0">
                <a:solidFill>
                  <a:schemeClr val="bg1"/>
                </a:solidFill>
              </a:rPr>
              <a:t>                         RAMY </a:t>
            </a:r>
            <a:r>
              <a:rPr lang="en-US" sz="1600" i="1" dirty="0">
                <a:solidFill>
                  <a:schemeClr val="bg1"/>
                </a:solidFill>
              </a:rPr>
              <a:t>ABOU NADER       </a:t>
            </a:r>
            <a:r>
              <a:rPr lang="en-US" sz="1600" dirty="0">
                <a:solidFill>
                  <a:schemeClr val="bg1"/>
                </a:solidFill>
              </a:rPr>
              <a:t>60531</a:t>
            </a:r>
            <a:endParaRPr lang="en-US" sz="16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Agenda</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What this project covers</a:t>
            </a:r>
            <a:endParaRPr lang="en-US" sz="1400" dirty="0"/>
          </a:p>
        </p:txBody>
      </p:sp>
      <p:sp>
        <p:nvSpPr>
          <p:cNvPr id="4" name="Shape 2"/>
          <p:cNvSpPr/>
          <p:nvPr/>
        </p:nvSpPr>
        <p:spPr>
          <a:xfrm>
            <a:off x="548640" y="1417320"/>
            <a:ext cx="11094415" cy="713232"/>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5" name="Shape 3"/>
          <p:cNvSpPr/>
          <p:nvPr/>
        </p:nvSpPr>
        <p:spPr>
          <a:xfrm>
            <a:off x="548640" y="1417320"/>
            <a:ext cx="73152" cy="713232"/>
          </a:xfrm>
          <a:prstGeom prst="rect">
            <a:avLst/>
          </a:prstGeom>
          <a:solidFill>
            <a:srgbClr val="F96167"/>
          </a:solidFill>
          <a:ln w="12700">
            <a:solidFill>
              <a:srgbClr val="F96167"/>
            </a:solidFill>
            <a:prstDash val="solid"/>
          </a:ln>
        </p:spPr>
      </p:sp>
      <p:sp>
        <p:nvSpPr>
          <p:cNvPr id="6" name="Text 4"/>
          <p:cNvSpPr/>
          <p:nvPr/>
        </p:nvSpPr>
        <p:spPr>
          <a:xfrm>
            <a:off x="777240" y="1417320"/>
            <a:ext cx="822960" cy="713232"/>
          </a:xfrm>
          <a:prstGeom prst="rect">
            <a:avLst/>
          </a:prstGeom>
          <a:noFill/>
        </p:spPr>
        <p:txBody>
          <a:bodyPr wrap="square" lIns="0" tIns="0" rIns="0" bIns="0" rtlCol="0" anchor="ctr"/>
          <a:lstStyle/>
          <a:p>
            <a:pPr marL="0" indent="0">
              <a:buNone/>
            </a:pPr>
            <a:r>
              <a:rPr lang="en-US" sz="2800" b="1" dirty="0">
                <a:solidFill>
                  <a:srgbClr val="065A82"/>
                </a:solidFill>
                <a:latin typeface="Georgia" panose="02040502050405020303" pitchFamily="34" charset="0"/>
                <a:ea typeface="Georgia" panose="02040502050405020303" pitchFamily="34" charset="-122"/>
                <a:cs typeface="Georgia" panose="02040502050405020303" pitchFamily="34" charset="-120"/>
              </a:rPr>
              <a:t>01</a:t>
            </a:r>
            <a:endParaRPr lang="en-US" sz="2800" dirty="0"/>
          </a:p>
        </p:txBody>
      </p:sp>
      <p:pic>
        <p:nvPicPr>
          <p:cNvPr id="7" name="Image 0" descr="preencoded.png"/>
          <p:cNvPicPr>
            <a:picLocks noChangeAspect="1"/>
          </p:cNvPicPr>
          <p:nvPr/>
        </p:nvPicPr>
        <p:blipFill>
          <a:blip r:embed="rId1"/>
          <a:stretch>
            <a:fillRect/>
          </a:stretch>
        </p:blipFill>
        <p:spPr>
          <a:xfrm>
            <a:off x="1645920" y="1581912"/>
            <a:ext cx="384048" cy="384048"/>
          </a:xfrm>
          <a:prstGeom prst="rect">
            <a:avLst/>
          </a:prstGeom>
        </p:spPr>
      </p:pic>
      <p:sp>
        <p:nvSpPr>
          <p:cNvPr id="8" name="Text 5"/>
          <p:cNvSpPr/>
          <p:nvPr/>
        </p:nvSpPr>
        <p:spPr>
          <a:xfrm>
            <a:off x="2194560" y="1490472"/>
            <a:ext cx="3657600" cy="320040"/>
          </a:xfrm>
          <a:prstGeom prst="rect">
            <a:avLst/>
          </a:prstGeom>
          <a:noFill/>
        </p:spPr>
        <p:txBody>
          <a:bodyPr wrap="square" lIns="0" tIns="0" rIns="0" bIns="0" rtlCol="0" anchor="ctr"/>
          <a:lstStyle/>
          <a:p>
            <a:pPr marL="0" indent="0">
              <a:buNone/>
            </a:pPr>
            <a:r>
              <a:rPr lang="en-US" sz="1600" b="1" dirty="0">
                <a:solidFill>
                  <a:srgbClr val="1A1F36"/>
                </a:solidFill>
                <a:latin typeface="Calibri" panose="020F0502020204030204" pitchFamily="34" charset="0"/>
                <a:ea typeface="Calibri" panose="020F0502020204030204" pitchFamily="34" charset="-122"/>
                <a:cs typeface="Calibri" panose="020F0502020204030204" pitchFamily="34" charset="-120"/>
              </a:rPr>
              <a:t>Background</a:t>
            </a:r>
            <a:endParaRPr lang="en-US" sz="1600" dirty="0"/>
          </a:p>
        </p:txBody>
      </p:sp>
      <p:sp>
        <p:nvSpPr>
          <p:cNvPr id="9" name="Text 6"/>
          <p:cNvSpPr/>
          <p:nvPr/>
        </p:nvSpPr>
        <p:spPr>
          <a:xfrm>
            <a:off x="2194560" y="1783080"/>
            <a:ext cx="9448495" cy="320040"/>
          </a:xfrm>
          <a:prstGeom prst="rect">
            <a:avLst/>
          </a:prstGeom>
          <a:noFill/>
        </p:spPr>
        <p:txBody>
          <a:bodyPr wrap="square" lIns="0" tIns="0" rIns="0" bIns="0" rtlCol="0" anchor="ctr"/>
          <a:lstStyle/>
          <a:p>
            <a:pPr marL="0" indent="0">
              <a:buNone/>
            </a:pPr>
            <a:r>
              <a:rPr lang="en-US" sz="1200" dirty="0">
                <a:solidFill>
                  <a:srgbClr val="5A6378"/>
                </a:solidFill>
                <a:latin typeface="Calibri" panose="020F0502020204030204" pitchFamily="34" charset="0"/>
                <a:ea typeface="Calibri" panose="020F0502020204030204" pitchFamily="34" charset="-122"/>
                <a:cs typeface="Calibri" panose="020F0502020204030204" pitchFamily="34" charset="-120"/>
              </a:rPr>
              <a:t>Why simplified AES exists and where it fits in a cryptography course</a:t>
            </a:r>
            <a:endParaRPr lang="en-US" sz="1200" dirty="0"/>
          </a:p>
        </p:txBody>
      </p:sp>
      <p:sp>
        <p:nvSpPr>
          <p:cNvPr id="10" name="Shape 7"/>
          <p:cNvSpPr/>
          <p:nvPr/>
        </p:nvSpPr>
        <p:spPr>
          <a:xfrm>
            <a:off x="548640" y="2221992"/>
            <a:ext cx="11094415" cy="713232"/>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11" name="Shape 8"/>
          <p:cNvSpPr/>
          <p:nvPr/>
        </p:nvSpPr>
        <p:spPr>
          <a:xfrm>
            <a:off x="548640" y="2221992"/>
            <a:ext cx="73152" cy="713232"/>
          </a:xfrm>
          <a:prstGeom prst="rect">
            <a:avLst/>
          </a:prstGeom>
          <a:solidFill>
            <a:srgbClr val="F96167"/>
          </a:solidFill>
          <a:ln w="12700">
            <a:solidFill>
              <a:srgbClr val="F96167"/>
            </a:solidFill>
            <a:prstDash val="solid"/>
          </a:ln>
        </p:spPr>
      </p:sp>
      <p:sp>
        <p:nvSpPr>
          <p:cNvPr id="12" name="Text 9"/>
          <p:cNvSpPr/>
          <p:nvPr/>
        </p:nvSpPr>
        <p:spPr>
          <a:xfrm>
            <a:off x="777240" y="2221992"/>
            <a:ext cx="822960" cy="713232"/>
          </a:xfrm>
          <a:prstGeom prst="rect">
            <a:avLst/>
          </a:prstGeom>
          <a:noFill/>
        </p:spPr>
        <p:txBody>
          <a:bodyPr wrap="square" lIns="0" tIns="0" rIns="0" bIns="0" rtlCol="0" anchor="ctr"/>
          <a:lstStyle/>
          <a:p>
            <a:pPr marL="0" indent="0">
              <a:buNone/>
            </a:pPr>
            <a:r>
              <a:rPr lang="en-US" sz="2800" b="1" dirty="0">
                <a:solidFill>
                  <a:srgbClr val="065A82"/>
                </a:solidFill>
                <a:latin typeface="Georgia" panose="02040502050405020303" pitchFamily="34" charset="0"/>
                <a:ea typeface="Georgia" panose="02040502050405020303" pitchFamily="34" charset="-122"/>
                <a:cs typeface="Georgia" panose="02040502050405020303" pitchFamily="34" charset="-120"/>
              </a:rPr>
              <a:t>02</a:t>
            </a:r>
            <a:endParaRPr lang="en-US" sz="2800" dirty="0"/>
          </a:p>
        </p:txBody>
      </p:sp>
      <p:pic>
        <p:nvPicPr>
          <p:cNvPr id="13" name="Image 1" descr="preencoded.png"/>
          <p:cNvPicPr>
            <a:picLocks noChangeAspect="1"/>
          </p:cNvPicPr>
          <p:nvPr/>
        </p:nvPicPr>
        <p:blipFill>
          <a:blip r:embed="rId2"/>
          <a:stretch>
            <a:fillRect/>
          </a:stretch>
        </p:blipFill>
        <p:spPr>
          <a:xfrm>
            <a:off x="1645920" y="2386584"/>
            <a:ext cx="384048" cy="384048"/>
          </a:xfrm>
          <a:prstGeom prst="rect">
            <a:avLst/>
          </a:prstGeom>
        </p:spPr>
      </p:pic>
      <p:sp>
        <p:nvSpPr>
          <p:cNvPr id="14" name="Text 10"/>
          <p:cNvSpPr/>
          <p:nvPr/>
        </p:nvSpPr>
        <p:spPr>
          <a:xfrm>
            <a:off x="2194560" y="2295144"/>
            <a:ext cx="3657600" cy="320040"/>
          </a:xfrm>
          <a:prstGeom prst="rect">
            <a:avLst/>
          </a:prstGeom>
          <a:noFill/>
        </p:spPr>
        <p:txBody>
          <a:bodyPr wrap="square" lIns="0" tIns="0" rIns="0" bIns="0" rtlCol="0" anchor="ctr"/>
          <a:lstStyle/>
          <a:p>
            <a:pPr marL="0" indent="0">
              <a:buNone/>
            </a:pPr>
            <a:r>
              <a:rPr lang="en-US" sz="1600" b="1" dirty="0">
                <a:solidFill>
                  <a:srgbClr val="1A1F36"/>
                </a:solidFill>
                <a:latin typeface="Calibri" panose="020F0502020204030204" pitchFamily="34" charset="0"/>
                <a:ea typeface="Calibri" panose="020F0502020204030204" pitchFamily="34" charset="-122"/>
                <a:cs typeface="Calibri" panose="020F0502020204030204" pitchFamily="34" charset="-120"/>
              </a:rPr>
              <a:t>S-AES Internals</a:t>
            </a:r>
            <a:endParaRPr lang="en-US" sz="1600" dirty="0"/>
          </a:p>
        </p:txBody>
      </p:sp>
      <p:sp>
        <p:nvSpPr>
          <p:cNvPr id="15" name="Text 11"/>
          <p:cNvSpPr/>
          <p:nvPr/>
        </p:nvSpPr>
        <p:spPr>
          <a:xfrm>
            <a:off x="2194560" y="2587752"/>
            <a:ext cx="9448495" cy="320040"/>
          </a:xfrm>
          <a:prstGeom prst="rect">
            <a:avLst/>
          </a:prstGeom>
          <a:noFill/>
        </p:spPr>
        <p:txBody>
          <a:bodyPr wrap="square" lIns="0" tIns="0" rIns="0" bIns="0" rtlCol="0" anchor="ctr"/>
          <a:lstStyle/>
          <a:p>
            <a:pPr marL="0" indent="0">
              <a:buNone/>
            </a:pPr>
            <a:r>
              <a:rPr lang="en-US" sz="1200" dirty="0">
                <a:solidFill>
                  <a:srgbClr val="5A6378"/>
                </a:solidFill>
                <a:latin typeface="Calibri" panose="020F0502020204030204" pitchFamily="34" charset="0"/>
                <a:ea typeface="Calibri" panose="020F0502020204030204" pitchFamily="34" charset="-122"/>
                <a:cs typeface="Calibri" panose="020F0502020204030204" pitchFamily="34" charset="-120"/>
              </a:rPr>
              <a:t>Block size, key expansion, S-box, ShiftRows, MixColumns over GF(2^4)</a:t>
            </a:r>
            <a:endParaRPr lang="en-US" sz="1200" dirty="0"/>
          </a:p>
        </p:txBody>
      </p:sp>
      <p:sp>
        <p:nvSpPr>
          <p:cNvPr id="16" name="Shape 12"/>
          <p:cNvSpPr/>
          <p:nvPr/>
        </p:nvSpPr>
        <p:spPr>
          <a:xfrm>
            <a:off x="548640" y="3026664"/>
            <a:ext cx="11094415" cy="713232"/>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17" name="Shape 13"/>
          <p:cNvSpPr/>
          <p:nvPr/>
        </p:nvSpPr>
        <p:spPr>
          <a:xfrm>
            <a:off x="548640" y="3026664"/>
            <a:ext cx="73152" cy="713232"/>
          </a:xfrm>
          <a:prstGeom prst="rect">
            <a:avLst/>
          </a:prstGeom>
          <a:solidFill>
            <a:srgbClr val="F96167"/>
          </a:solidFill>
          <a:ln w="12700">
            <a:solidFill>
              <a:srgbClr val="F96167"/>
            </a:solidFill>
            <a:prstDash val="solid"/>
          </a:ln>
        </p:spPr>
      </p:sp>
      <p:sp>
        <p:nvSpPr>
          <p:cNvPr id="18" name="Text 14"/>
          <p:cNvSpPr/>
          <p:nvPr/>
        </p:nvSpPr>
        <p:spPr>
          <a:xfrm>
            <a:off x="777240" y="3026664"/>
            <a:ext cx="822960" cy="713232"/>
          </a:xfrm>
          <a:prstGeom prst="rect">
            <a:avLst/>
          </a:prstGeom>
          <a:noFill/>
        </p:spPr>
        <p:txBody>
          <a:bodyPr wrap="square" lIns="0" tIns="0" rIns="0" bIns="0" rtlCol="0" anchor="ctr"/>
          <a:lstStyle/>
          <a:p>
            <a:pPr marL="0" indent="0">
              <a:buNone/>
            </a:pPr>
            <a:r>
              <a:rPr lang="en-US" sz="2800" b="1" dirty="0">
                <a:solidFill>
                  <a:srgbClr val="065A82"/>
                </a:solidFill>
                <a:latin typeface="Georgia" panose="02040502050405020303" pitchFamily="34" charset="0"/>
                <a:ea typeface="Georgia" panose="02040502050405020303" pitchFamily="34" charset="-122"/>
                <a:cs typeface="Georgia" panose="02040502050405020303" pitchFamily="34" charset="-120"/>
              </a:rPr>
              <a:t>03</a:t>
            </a:r>
            <a:endParaRPr lang="en-US" sz="2800" dirty="0"/>
          </a:p>
        </p:txBody>
      </p:sp>
      <p:pic>
        <p:nvPicPr>
          <p:cNvPr id="19" name="Image 2" descr="preencoded.png"/>
          <p:cNvPicPr>
            <a:picLocks noChangeAspect="1"/>
          </p:cNvPicPr>
          <p:nvPr/>
        </p:nvPicPr>
        <p:blipFill>
          <a:blip r:embed="rId3"/>
          <a:stretch>
            <a:fillRect/>
          </a:stretch>
        </p:blipFill>
        <p:spPr>
          <a:xfrm>
            <a:off x="1645920" y="3191256"/>
            <a:ext cx="384048" cy="384048"/>
          </a:xfrm>
          <a:prstGeom prst="rect">
            <a:avLst/>
          </a:prstGeom>
        </p:spPr>
      </p:pic>
      <p:sp>
        <p:nvSpPr>
          <p:cNvPr id="20" name="Text 15"/>
          <p:cNvSpPr/>
          <p:nvPr/>
        </p:nvSpPr>
        <p:spPr>
          <a:xfrm>
            <a:off x="2194560" y="3099816"/>
            <a:ext cx="3657600" cy="320040"/>
          </a:xfrm>
          <a:prstGeom prst="rect">
            <a:avLst/>
          </a:prstGeom>
          <a:noFill/>
        </p:spPr>
        <p:txBody>
          <a:bodyPr wrap="square" lIns="0" tIns="0" rIns="0" bIns="0" rtlCol="0" anchor="ctr"/>
          <a:lstStyle/>
          <a:p>
            <a:pPr marL="0" indent="0">
              <a:buNone/>
            </a:pPr>
            <a:r>
              <a:rPr lang="en-US" sz="1600" b="1" dirty="0">
                <a:solidFill>
                  <a:srgbClr val="1A1F36"/>
                </a:solidFill>
                <a:latin typeface="Calibri" panose="020F0502020204030204" pitchFamily="34" charset="0"/>
                <a:ea typeface="Calibri" panose="020F0502020204030204" pitchFamily="34" charset="-122"/>
                <a:cs typeface="Calibri" panose="020F0502020204030204" pitchFamily="34" charset="-120"/>
              </a:rPr>
              <a:t>CFB Mode</a:t>
            </a:r>
            <a:endParaRPr lang="en-US" sz="1600" dirty="0"/>
          </a:p>
        </p:txBody>
      </p:sp>
      <p:sp>
        <p:nvSpPr>
          <p:cNvPr id="21" name="Text 16"/>
          <p:cNvSpPr/>
          <p:nvPr/>
        </p:nvSpPr>
        <p:spPr>
          <a:xfrm>
            <a:off x="2194560" y="3392424"/>
            <a:ext cx="9448495" cy="320040"/>
          </a:xfrm>
          <a:prstGeom prst="rect">
            <a:avLst/>
          </a:prstGeom>
          <a:noFill/>
        </p:spPr>
        <p:txBody>
          <a:bodyPr wrap="square" lIns="0" tIns="0" rIns="0" bIns="0" rtlCol="0" anchor="ctr"/>
          <a:lstStyle/>
          <a:p>
            <a:pPr marL="0" indent="0">
              <a:buNone/>
            </a:pPr>
            <a:r>
              <a:rPr lang="en-US" altLang="en-US" sz="1200" dirty="0"/>
              <a:t>How turning a block cipher into a stream cipher removes the weaknesses of raw ECB</a:t>
            </a:r>
            <a:endParaRPr lang="en-US" altLang="en-US" sz="1200" dirty="0"/>
          </a:p>
        </p:txBody>
      </p:sp>
      <p:sp>
        <p:nvSpPr>
          <p:cNvPr id="22" name="Shape 17"/>
          <p:cNvSpPr/>
          <p:nvPr/>
        </p:nvSpPr>
        <p:spPr>
          <a:xfrm>
            <a:off x="548640" y="3831336"/>
            <a:ext cx="11094415" cy="713232"/>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23" name="Shape 18"/>
          <p:cNvSpPr/>
          <p:nvPr/>
        </p:nvSpPr>
        <p:spPr>
          <a:xfrm>
            <a:off x="548640" y="3831336"/>
            <a:ext cx="73152" cy="713232"/>
          </a:xfrm>
          <a:prstGeom prst="rect">
            <a:avLst/>
          </a:prstGeom>
          <a:solidFill>
            <a:srgbClr val="F96167"/>
          </a:solidFill>
          <a:ln w="12700">
            <a:solidFill>
              <a:srgbClr val="F96167"/>
            </a:solidFill>
            <a:prstDash val="solid"/>
          </a:ln>
        </p:spPr>
      </p:sp>
      <p:sp>
        <p:nvSpPr>
          <p:cNvPr id="24" name="Text 19"/>
          <p:cNvSpPr/>
          <p:nvPr/>
        </p:nvSpPr>
        <p:spPr>
          <a:xfrm>
            <a:off x="777240" y="3831336"/>
            <a:ext cx="822960" cy="713232"/>
          </a:xfrm>
          <a:prstGeom prst="rect">
            <a:avLst/>
          </a:prstGeom>
          <a:noFill/>
        </p:spPr>
        <p:txBody>
          <a:bodyPr wrap="square" lIns="0" tIns="0" rIns="0" bIns="0" rtlCol="0" anchor="ctr"/>
          <a:lstStyle/>
          <a:p>
            <a:pPr marL="0" indent="0">
              <a:buNone/>
            </a:pPr>
            <a:r>
              <a:rPr lang="en-US" sz="2800" b="1" dirty="0">
                <a:solidFill>
                  <a:srgbClr val="065A82"/>
                </a:solidFill>
                <a:latin typeface="Georgia" panose="02040502050405020303" pitchFamily="34" charset="0"/>
                <a:ea typeface="Georgia" panose="02040502050405020303" pitchFamily="34" charset="-122"/>
                <a:cs typeface="Georgia" panose="02040502050405020303" pitchFamily="34" charset="-120"/>
              </a:rPr>
              <a:t>04</a:t>
            </a:r>
            <a:endParaRPr lang="en-US" sz="2800" dirty="0"/>
          </a:p>
        </p:txBody>
      </p:sp>
      <p:pic>
        <p:nvPicPr>
          <p:cNvPr id="25" name="Image 3" descr="preencoded.png"/>
          <p:cNvPicPr>
            <a:picLocks noChangeAspect="1"/>
          </p:cNvPicPr>
          <p:nvPr/>
        </p:nvPicPr>
        <p:blipFill>
          <a:blip r:embed="rId4"/>
          <a:stretch>
            <a:fillRect/>
          </a:stretch>
        </p:blipFill>
        <p:spPr>
          <a:xfrm>
            <a:off x="1645920" y="3995928"/>
            <a:ext cx="384048" cy="384048"/>
          </a:xfrm>
          <a:prstGeom prst="rect">
            <a:avLst/>
          </a:prstGeom>
        </p:spPr>
      </p:pic>
      <p:sp>
        <p:nvSpPr>
          <p:cNvPr id="26" name="Text 20"/>
          <p:cNvSpPr/>
          <p:nvPr/>
        </p:nvSpPr>
        <p:spPr>
          <a:xfrm>
            <a:off x="2194560" y="3904488"/>
            <a:ext cx="3657600" cy="320040"/>
          </a:xfrm>
          <a:prstGeom prst="rect">
            <a:avLst/>
          </a:prstGeom>
          <a:noFill/>
        </p:spPr>
        <p:txBody>
          <a:bodyPr wrap="square" lIns="0" tIns="0" rIns="0" bIns="0" rtlCol="0" anchor="ctr"/>
          <a:lstStyle/>
          <a:p>
            <a:pPr marL="0" indent="0">
              <a:buNone/>
            </a:pPr>
            <a:r>
              <a:rPr lang="en-US" sz="1600" b="1" dirty="0">
                <a:solidFill>
                  <a:srgbClr val="1A1F36"/>
                </a:solidFill>
                <a:latin typeface="Calibri" panose="020F0502020204030204" pitchFamily="34" charset="0"/>
                <a:ea typeface="Calibri" panose="020F0502020204030204" pitchFamily="34" charset="-122"/>
                <a:cs typeface="Calibri" panose="020F0502020204030204" pitchFamily="34" charset="-120"/>
              </a:rPr>
              <a:t>Implementation</a:t>
            </a:r>
            <a:endParaRPr lang="en-US" sz="1600" dirty="0"/>
          </a:p>
        </p:txBody>
      </p:sp>
      <p:sp>
        <p:nvSpPr>
          <p:cNvPr id="27" name="Text 21"/>
          <p:cNvSpPr/>
          <p:nvPr/>
        </p:nvSpPr>
        <p:spPr>
          <a:xfrm>
            <a:off x="2194560" y="4197096"/>
            <a:ext cx="9448495" cy="320040"/>
          </a:xfrm>
          <a:prstGeom prst="rect">
            <a:avLst/>
          </a:prstGeom>
          <a:noFill/>
        </p:spPr>
        <p:txBody>
          <a:bodyPr wrap="square" lIns="0" tIns="0" rIns="0" bIns="0" rtlCol="0" anchor="ctr"/>
          <a:lstStyle/>
          <a:p>
            <a:pPr marL="0" indent="0">
              <a:buNone/>
            </a:pPr>
            <a:r>
              <a:rPr lang="en-US" sz="1200" dirty="0">
                <a:solidFill>
                  <a:srgbClr val="5A6378"/>
                </a:solidFill>
                <a:latin typeface="Calibri" panose="020F0502020204030204" pitchFamily="34" charset="0"/>
                <a:ea typeface="Calibri" panose="020F0502020204030204" pitchFamily="34" charset="-122"/>
                <a:cs typeface="Calibri" panose="020F0502020204030204" pitchFamily="34" charset="-120"/>
              </a:rPr>
              <a:t>Python code, file-level encryption of text and a small image</a:t>
            </a:r>
            <a:endParaRPr lang="en-US" sz="1200" dirty="0"/>
          </a:p>
        </p:txBody>
      </p:sp>
      <p:sp>
        <p:nvSpPr>
          <p:cNvPr id="28" name="Shape 22"/>
          <p:cNvSpPr/>
          <p:nvPr/>
        </p:nvSpPr>
        <p:spPr>
          <a:xfrm>
            <a:off x="548640" y="4636008"/>
            <a:ext cx="11094415" cy="713232"/>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29" name="Shape 23"/>
          <p:cNvSpPr/>
          <p:nvPr/>
        </p:nvSpPr>
        <p:spPr>
          <a:xfrm>
            <a:off x="548640" y="4636008"/>
            <a:ext cx="73152" cy="713232"/>
          </a:xfrm>
          <a:prstGeom prst="rect">
            <a:avLst/>
          </a:prstGeom>
          <a:solidFill>
            <a:srgbClr val="F96167"/>
          </a:solidFill>
          <a:ln w="12700">
            <a:solidFill>
              <a:srgbClr val="F96167"/>
            </a:solidFill>
            <a:prstDash val="solid"/>
          </a:ln>
        </p:spPr>
      </p:sp>
      <p:sp>
        <p:nvSpPr>
          <p:cNvPr id="30" name="Text 24"/>
          <p:cNvSpPr/>
          <p:nvPr/>
        </p:nvSpPr>
        <p:spPr>
          <a:xfrm>
            <a:off x="777240" y="4636008"/>
            <a:ext cx="822960" cy="713232"/>
          </a:xfrm>
          <a:prstGeom prst="rect">
            <a:avLst/>
          </a:prstGeom>
          <a:noFill/>
        </p:spPr>
        <p:txBody>
          <a:bodyPr wrap="square" lIns="0" tIns="0" rIns="0" bIns="0" rtlCol="0" anchor="ctr"/>
          <a:lstStyle/>
          <a:p>
            <a:pPr marL="0" indent="0">
              <a:buNone/>
            </a:pPr>
            <a:r>
              <a:rPr lang="en-US" sz="2800" b="1" dirty="0">
                <a:solidFill>
                  <a:srgbClr val="065A82"/>
                </a:solidFill>
                <a:latin typeface="Georgia" panose="02040502050405020303" pitchFamily="34" charset="0"/>
                <a:ea typeface="Georgia" panose="02040502050405020303" pitchFamily="34" charset="-122"/>
                <a:cs typeface="Georgia" panose="02040502050405020303" pitchFamily="34" charset="-120"/>
              </a:rPr>
              <a:t>05</a:t>
            </a:r>
            <a:endParaRPr lang="en-US" sz="2800" dirty="0"/>
          </a:p>
        </p:txBody>
      </p:sp>
      <p:pic>
        <p:nvPicPr>
          <p:cNvPr id="31" name="Image 4" descr="preencoded.png"/>
          <p:cNvPicPr>
            <a:picLocks noChangeAspect="1"/>
          </p:cNvPicPr>
          <p:nvPr/>
        </p:nvPicPr>
        <p:blipFill>
          <a:blip r:embed="rId5"/>
          <a:stretch>
            <a:fillRect/>
          </a:stretch>
        </p:blipFill>
        <p:spPr>
          <a:xfrm>
            <a:off x="1645920" y="4800600"/>
            <a:ext cx="384048" cy="384048"/>
          </a:xfrm>
          <a:prstGeom prst="rect">
            <a:avLst/>
          </a:prstGeom>
        </p:spPr>
      </p:pic>
      <p:sp>
        <p:nvSpPr>
          <p:cNvPr id="32" name="Text 25"/>
          <p:cNvSpPr/>
          <p:nvPr/>
        </p:nvSpPr>
        <p:spPr>
          <a:xfrm>
            <a:off x="2194560" y="4709160"/>
            <a:ext cx="3657600" cy="320040"/>
          </a:xfrm>
          <a:prstGeom prst="rect">
            <a:avLst/>
          </a:prstGeom>
          <a:noFill/>
        </p:spPr>
        <p:txBody>
          <a:bodyPr wrap="square" lIns="0" tIns="0" rIns="0" bIns="0" rtlCol="0" anchor="ctr"/>
          <a:lstStyle/>
          <a:p>
            <a:pPr marL="0" indent="0">
              <a:buNone/>
            </a:pPr>
            <a:r>
              <a:rPr lang="en-US" sz="1600" b="1" dirty="0">
                <a:solidFill>
                  <a:srgbClr val="1A1F36"/>
                </a:solidFill>
                <a:latin typeface="Calibri" panose="020F0502020204030204" pitchFamily="34" charset="0"/>
                <a:ea typeface="Calibri" panose="020F0502020204030204" pitchFamily="34" charset="-122"/>
                <a:cs typeface="Calibri" panose="020F0502020204030204" pitchFamily="34" charset="-120"/>
              </a:rPr>
              <a:t>Cryptanalysis</a:t>
            </a:r>
            <a:endParaRPr lang="en-US" sz="1600" dirty="0"/>
          </a:p>
        </p:txBody>
      </p:sp>
      <p:sp>
        <p:nvSpPr>
          <p:cNvPr id="33" name="Text 26"/>
          <p:cNvSpPr/>
          <p:nvPr/>
        </p:nvSpPr>
        <p:spPr>
          <a:xfrm>
            <a:off x="2194560" y="5001768"/>
            <a:ext cx="9448495" cy="320040"/>
          </a:xfrm>
          <a:prstGeom prst="rect">
            <a:avLst/>
          </a:prstGeom>
          <a:noFill/>
        </p:spPr>
        <p:txBody>
          <a:bodyPr wrap="square" lIns="0" tIns="0" rIns="0" bIns="0" rtlCol="0" anchor="ctr"/>
          <a:lstStyle/>
          <a:p>
            <a:pPr marL="0" indent="0">
              <a:buNone/>
            </a:pPr>
            <a:r>
              <a:rPr lang="en-US" sz="1200" dirty="0">
                <a:solidFill>
                  <a:srgbClr val="5A6378"/>
                </a:solidFill>
                <a:latin typeface="Calibri" panose="020F0502020204030204" pitchFamily="34" charset="0"/>
                <a:ea typeface="Calibri" panose="020F0502020204030204" pitchFamily="34" charset="-122"/>
                <a:cs typeface="Calibri" panose="020F0502020204030204" pitchFamily="34" charset="-120"/>
              </a:rPr>
              <a:t>Known-plaintext and ciphertext-only brute-force attacks on the 16-bit key</a:t>
            </a:r>
            <a:endParaRPr lang="en-US" sz="1200" dirty="0"/>
          </a:p>
        </p:txBody>
      </p:sp>
      <p:sp>
        <p:nvSpPr>
          <p:cNvPr id="34" name="Shape 27"/>
          <p:cNvSpPr/>
          <p:nvPr/>
        </p:nvSpPr>
        <p:spPr>
          <a:xfrm>
            <a:off x="548640" y="5440680"/>
            <a:ext cx="11094415" cy="713232"/>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35" name="Shape 28"/>
          <p:cNvSpPr/>
          <p:nvPr/>
        </p:nvSpPr>
        <p:spPr>
          <a:xfrm>
            <a:off x="548640" y="5440680"/>
            <a:ext cx="73152" cy="713232"/>
          </a:xfrm>
          <a:prstGeom prst="rect">
            <a:avLst/>
          </a:prstGeom>
          <a:solidFill>
            <a:srgbClr val="F96167"/>
          </a:solidFill>
          <a:ln w="12700">
            <a:solidFill>
              <a:srgbClr val="F96167"/>
            </a:solidFill>
            <a:prstDash val="solid"/>
          </a:ln>
        </p:spPr>
      </p:sp>
      <p:sp>
        <p:nvSpPr>
          <p:cNvPr id="36" name="Text 29"/>
          <p:cNvSpPr/>
          <p:nvPr/>
        </p:nvSpPr>
        <p:spPr>
          <a:xfrm>
            <a:off x="777240" y="5440680"/>
            <a:ext cx="822960" cy="713232"/>
          </a:xfrm>
          <a:prstGeom prst="rect">
            <a:avLst/>
          </a:prstGeom>
          <a:noFill/>
        </p:spPr>
        <p:txBody>
          <a:bodyPr wrap="square" lIns="0" tIns="0" rIns="0" bIns="0" rtlCol="0" anchor="ctr"/>
          <a:lstStyle/>
          <a:p>
            <a:pPr marL="0" indent="0">
              <a:buNone/>
            </a:pPr>
            <a:r>
              <a:rPr lang="en-US" sz="2800" b="1" dirty="0">
                <a:solidFill>
                  <a:srgbClr val="065A82"/>
                </a:solidFill>
                <a:latin typeface="Georgia" panose="02040502050405020303" pitchFamily="34" charset="0"/>
                <a:ea typeface="Georgia" panose="02040502050405020303" pitchFamily="34" charset="-122"/>
                <a:cs typeface="Georgia" panose="02040502050405020303" pitchFamily="34" charset="-120"/>
              </a:rPr>
              <a:t>06</a:t>
            </a:r>
            <a:endParaRPr lang="en-US" sz="2800" dirty="0"/>
          </a:p>
        </p:txBody>
      </p:sp>
      <p:pic>
        <p:nvPicPr>
          <p:cNvPr id="37" name="Image 5" descr="preencoded.png"/>
          <p:cNvPicPr>
            <a:picLocks noChangeAspect="1"/>
          </p:cNvPicPr>
          <p:nvPr/>
        </p:nvPicPr>
        <p:blipFill>
          <a:blip r:embed="rId6"/>
          <a:stretch>
            <a:fillRect/>
          </a:stretch>
        </p:blipFill>
        <p:spPr>
          <a:xfrm>
            <a:off x="1645920" y="5605272"/>
            <a:ext cx="384048" cy="384048"/>
          </a:xfrm>
          <a:prstGeom prst="rect">
            <a:avLst/>
          </a:prstGeom>
        </p:spPr>
      </p:pic>
      <p:sp>
        <p:nvSpPr>
          <p:cNvPr id="38" name="Text 30"/>
          <p:cNvSpPr/>
          <p:nvPr/>
        </p:nvSpPr>
        <p:spPr>
          <a:xfrm>
            <a:off x="2194560" y="5513832"/>
            <a:ext cx="3657600" cy="320040"/>
          </a:xfrm>
          <a:prstGeom prst="rect">
            <a:avLst/>
          </a:prstGeom>
          <a:noFill/>
        </p:spPr>
        <p:txBody>
          <a:bodyPr wrap="square" lIns="0" tIns="0" rIns="0" bIns="0" rtlCol="0" anchor="ctr"/>
          <a:lstStyle/>
          <a:p>
            <a:pPr marL="0" indent="0">
              <a:buNone/>
            </a:pPr>
            <a:r>
              <a:rPr lang="en-US" sz="1600" b="1" dirty="0">
                <a:solidFill>
                  <a:srgbClr val="1A1F36"/>
                </a:solidFill>
                <a:latin typeface="Calibri" panose="020F0502020204030204" pitchFamily="34" charset="0"/>
                <a:ea typeface="Calibri" panose="020F0502020204030204" pitchFamily="34" charset="-122"/>
                <a:cs typeface="Calibri" panose="020F0502020204030204" pitchFamily="34" charset="-120"/>
              </a:rPr>
              <a:t>Conclusions</a:t>
            </a:r>
            <a:endParaRPr lang="en-US" sz="1600" dirty="0"/>
          </a:p>
        </p:txBody>
      </p:sp>
      <p:sp>
        <p:nvSpPr>
          <p:cNvPr id="39" name="Text 31"/>
          <p:cNvSpPr/>
          <p:nvPr/>
        </p:nvSpPr>
        <p:spPr>
          <a:xfrm>
            <a:off x="2194560" y="5806440"/>
            <a:ext cx="9448495" cy="320040"/>
          </a:xfrm>
          <a:prstGeom prst="rect">
            <a:avLst/>
          </a:prstGeom>
          <a:noFill/>
        </p:spPr>
        <p:txBody>
          <a:bodyPr wrap="square" lIns="0" tIns="0" rIns="0" bIns="0" rtlCol="0" anchor="ctr"/>
          <a:lstStyle/>
          <a:p>
            <a:pPr marL="0" indent="0">
              <a:buNone/>
            </a:pPr>
            <a:r>
              <a:rPr lang="en-US" sz="1200" dirty="0">
                <a:solidFill>
                  <a:srgbClr val="5A6378"/>
                </a:solidFill>
                <a:latin typeface="Calibri" panose="020F0502020204030204" pitchFamily="34" charset="0"/>
                <a:ea typeface="Calibri" panose="020F0502020204030204" pitchFamily="34" charset="-122"/>
                <a:cs typeface="Calibri" panose="020F0502020204030204" pitchFamily="34" charset="-120"/>
              </a:rPr>
              <a:t>Measured attack times and what changes when we move to real AES</a:t>
            </a:r>
            <a:endParaRPr lang="en-US" sz="1200" dirty="0"/>
          </a:p>
        </p:txBody>
      </p:sp>
      <p:sp>
        <p:nvSpPr>
          <p:cNvPr id="40" name="Text 32"/>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CFB  -  Cryptography Project</a:t>
            </a:r>
            <a:endParaRPr lang="en-US" sz="1000" dirty="0"/>
          </a:p>
        </p:txBody>
      </p:sp>
      <p:sp>
        <p:nvSpPr>
          <p:cNvPr id="41" name="Text 33"/>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What is S-AES?</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A teaching version of the AES standard</a:t>
            </a:r>
            <a:endParaRPr lang="en-US" sz="1400" dirty="0"/>
          </a:p>
        </p:txBody>
      </p:sp>
      <p:sp>
        <p:nvSpPr>
          <p:cNvPr id="4" name="Text 2"/>
          <p:cNvSpPr/>
          <p:nvPr/>
        </p:nvSpPr>
        <p:spPr>
          <a:xfrm>
            <a:off x="548640" y="1417320"/>
            <a:ext cx="5303520" cy="1828800"/>
          </a:xfrm>
          <a:prstGeom prst="rect">
            <a:avLst/>
          </a:prstGeom>
          <a:noFill/>
        </p:spPr>
        <p:txBody>
          <a:bodyPr wrap="square" lIns="0" tIns="0" rIns="0" bIns="0" rtlCol="0" anchor="ctr"/>
          <a:lstStyle/>
          <a:p>
            <a:pPr marL="0" indent="0" algn="l">
              <a:spcAft>
                <a:spcPts val="600"/>
              </a:spcAft>
              <a:buNone/>
            </a:pPr>
            <a:r>
              <a:rPr lang="en-US" sz="1400" dirty="0">
                <a:solidFill>
                  <a:srgbClr val="1A1F36"/>
                </a:solidFill>
                <a:latin typeface="Calibri" panose="020F0502020204030204" pitchFamily="34" charset="0"/>
                <a:ea typeface="Calibri" panose="020F0502020204030204" pitchFamily="34" charset="-122"/>
                <a:cs typeface="Calibri" panose="020F0502020204030204" pitchFamily="34" charset="-120"/>
              </a:rPr>
              <a:t>S-AES (Simplified AES) is a miniature cipher designed by Musa, Schaefer and Wedig in 2003 for classroom use. It mirrors every structural element of real AES but with drastically smaller parameters so students can compute rounds by hand or exhaust the entire key space in under a second.</a:t>
            </a:r>
            <a:endParaRPr lang="en-US" sz="1400" dirty="0"/>
          </a:p>
        </p:txBody>
      </p:sp>
      <p:sp>
        <p:nvSpPr>
          <p:cNvPr id="5" name="Shape 3"/>
          <p:cNvSpPr/>
          <p:nvPr/>
        </p:nvSpPr>
        <p:spPr>
          <a:xfrm>
            <a:off x="548640" y="3429000"/>
            <a:ext cx="2606040" cy="114300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6" name="Text 4"/>
          <p:cNvSpPr/>
          <p:nvPr/>
        </p:nvSpPr>
        <p:spPr>
          <a:xfrm>
            <a:off x="548640" y="3593592"/>
            <a:ext cx="2606040" cy="502920"/>
          </a:xfrm>
          <a:prstGeom prst="rect">
            <a:avLst/>
          </a:prstGeom>
          <a:noFill/>
        </p:spPr>
        <p:txBody>
          <a:bodyPr wrap="square" lIns="0" tIns="0" rIns="0" bIns="0" rtlCol="0" anchor="ctr"/>
          <a:lstStyle/>
          <a:p>
            <a:pPr marL="0" indent="0" algn="ctr">
              <a:buNone/>
            </a:pPr>
            <a:r>
              <a:rPr lang="en-US" sz="2600" b="1" dirty="0">
                <a:solidFill>
                  <a:srgbClr val="065A82"/>
                </a:solidFill>
                <a:latin typeface="Georgia" panose="02040502050405020303" pitchFamily="34" charset="0"/>
                <a:ea typeface="Georgia" panose="02040502050405020303" pitchFamily="34" charset="-122"/>
                <a:cs typeface="Georgia" panose="02040502050405020303" pitchFamily="34" charset="-120"/>
              </a:rPr>
              <a:t>16 bits</a:t>
            </a:r>
            <a:endParaRPr lang="en-US" sz="2600" dirty="0"/>
          </a:p>
        </p:txBody>
      </p:sp>
      <p:sp>
        <p:nvSpPr>
          <p:cNvPr id="7" name="Text 5"/>
          <p:cNvSpPr/>
          <p:nvPr/>
        </p:nvSpPr>
        <p:spPr>
          <a:xfrm>
            <a:off x="548640" y="4114800"/>
            <a:ext cx="2606040" cy="365760"/>
          </a:xfrm>
          <a:prstGeom prst="rect">
            <a:avLst/>
          </a:prstGeom>
          <a:noFill/>
        </p:spPr>
        <p:txBody>
          <a:bodyPr wrap="square" lIns="0" tIns="0" rIns="0" bIns="0" rtlCol="0" anchor="ctr"/>
          <a:lstStyle/>
          <a:p>
            <a:pPr marL="0" indent="0" algn="ctr">
              <a:buNone/>
            </a:pPr>
            <a:r>
              <a:rPr lang="en-US" sz="1300" dirty="0">
                <a:solidFill>
                  <a:srgbClr val="5A6378"/>
                </a:solidFill>
                <a:latin typeface="Calibri" panose="020F0502020204030204" pitchFamily="34" charset="0"/>
                <a:ea typeface="Calibri" panose="020F0502020204030204" pitchFamily="34" charset="-122"/>
                <a:cs typeface="Calibri" panose="020F0502020204030204" pitchFamily="34" charset="-120"/>
              </a:rPr>
              <a:t>Block size</a:t>
            </a:r>
            <a:endParaRPr lang="en-US" sz="1300" dirty="0"/>
          </a:p>
        </p:txBody>
      </p:sp>
      <p:sp>
        <p:nvSpPr>
          <p:cNvPr id="8" name="Shape 6"/>
          <p:cNvSpPr/>
          <p:nvPr/>
        </p:nvSpPr>
        <p:spPr>
          <a:xfrm>
            <a:off x="3246120" y="3429000"/>
            <a:ext cx="2606040" cy="114300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9" name="Text 7"/>
          <p:cNvSpPr/>
          <p:nvPr/>
        </p:nvSpPr>
        <p:spPr>
          <a:xfrm>
            <a:off x="3246120" y="3593592"/>
            <a:ext cx="2606040" cy="502920"/>
          </a:xfrm>
          <a:prstGeom prst="rect">
            <a:avLst/>
          </a:prstGeom>
          <a:noFill/>
        </p:spPr>
        <p:txBody>
          <a:bodyPr wrap="square" lIns="0" tIns="0" rIns="0" bIns="0" rtlCol="0" anchor="ctr"/>
          <a:lstStyle/>
          <a:p>
            <a:pPr marL="0" indent="0" algn="ctr">
              <a:buNone/>
            </a:pPr>
            <a:r>
              <a:rPr lang="en-US" sz="2600" b="1" dirty="0">
                <a:solidFill>
                  <a:srgbClr val="065A82"/>
                </a:solidFill>
                <a:latin typeface="Georgia" panose="02040502050405020303" pitchFamily="34" charset="0"/>
                <a:ea typeface="Georgia" panose="02040502050405020303" pitchFamily="34" charset="-122"/>
                <a:cs typeface="Georgia" panose="02040502050405020303" pitchFamily="34" charset="-120"/>
              </a:rPr>
              <a:t>16 bits</a:t>
            </a:r>
            <a:endParaRPr lang="en-US" sz="2600" dirty="0"/>
          </a:p>
        </p:txBody>
      </p:sp>
      <p:sp>
        <p:nvSpPr>
          <p:cNvPr id="10" name="Text 8"/>
          <p:cNvSpPr/>
          <p:nvPr/>
        </p:nvSpPr>
        <p:spPr>
          <a:xfrm>
            <a:off x="3246120" y="4114800"/>
            <a:ext cx="2606040" cy="365760"/>
          </a:xfrm>
          <a:prstGeom prst="rect">
            <a:avLst/>
          </a:prstGeom>
          <a:noFill/>
        </p:spPr>
        <p:txBody>
          <a:bodyPr wrap="square" lIns="0" tIns="0" rIns="0" bIns="0" rtlCol="0" anchor="ctr"/>
          <a:lstStyle/>
          <a:p>
            <a:pPr marL="0" indent="0" algn="ctr">
              <a:buNone/>
            </a:pPr>
            <a:r>
              <a:rPr lang="en-US" sz="1300" dirty="0">
                <a:solidFill>
                  <a:srgbClr val="5A6378"/>
                </a:solidFill>
                <a:latin typeface="Calibri" panose="020F0502020204030204" pitchFamily="34" charset="0"/>
                <a:ea typeface="Calibri" panose="020F0502020204030204" pitchFamily="34" charset="-122"/>
                <a:cs typeface="Calibri" panose="020F0502020204030204" pitchFamily="34" charset="-120"/>
              </a:rPr>
              <a:t>Key size</a:t>
            </a:r>
            <a:endParaRPr lang="en-US" sz="1300" dirty="0"/>
          </a:p>
        </p:txBody>
      </p:sp>
      <p:sp>
        <p:nvSpPr>
          <p:cNvPr id="11" name="Shape 9"/>
          <p:cNvSpPr/>
          <p:nvPr/>
        </p:nvSpPr>
        <p:spPr>
          <a:xfrm>
            <a:off x="548640" y="4663440"/>
            <a:ext cx="2606040" cy="114300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2" name="Text 10"/>
          <p:cNvSpPr/>
          <p:nvPr/>
        </p:nvSpPr>
        <p:spPr>
          <a:xfrm>
            <a:off x="548640" y="4828032"/>
            <a:ext cx="2606040" cy="502920"/>
          </a:xfrm>
          <a:prstGeom prst="rect">
            <a:avLst/>
          </a:prstGeom>
          <a:noFill/>
        </p:spPr>
        <p:txBody>
          <a:bodyPr wrap="square" lIns="0" tIns="0" rIns="0" bIns="0" rtlCol="0" anchor="ctr"/>
          <a:lstStyle/>
          <a:p>
            <a:pPr marL="0" indent="0" algn="ctr">
              <a:buNone/>
            </a:pPr>
            <a:r>
              <a:rPr lang="en-US" sz="2600" b="1" dirty="0">
                <a:solidFill>
                  <a:srgbClr val="F96167"/>
                </a:solidFill>
                <a:latin typeface="Georgia" panose="02040502050405020303" pitchFamily="34" charset="0"/>
                <a:ea typeface="Georgia" panose="02040502050405020303" pitchFamily="34" charset="-122"/>
                <a:cs typeface="Georgia" panose="02040502050405020303" pitchFamily="34" charset="-120"/>
              </a:rPr>
              <a:t>2</a:t>
            </a:r>
            <a:endParaRPr lang="en-US" sz="2600" dirty="0"/>
          </a:p>
        </p:txBody>
      </p:sp>
      <p:sp>
        <p:nvSpPr>
          <p:cNvPr id="13" name="Text 11"/>
          <p:cNvSpPr/>
          <p:nvPr/>
        </p:nvSpPr>
        <p:spPr>
          <a:xfrm>
            <a:off x="548640" y="5349240"/>
            <a:ext cx="2606040" cy="365760"/>
          </a:xfrm>
          <a:prstGeom prst="rect">
            <a:avLst/>
          </a:prstGeom>
          <a:noFill/>
        </p:spPr>
        <p:txBody>
          <a:bodyPr wrap="square" lIns="0" tIns="0" rIns="0" bIns="0" rtlCol="0" anchor="ctr"/>
          <a:lstStyle/>
          <a:p>
            <a:pPr marL="0" indent="0" algn="ctr">
              <a:buNone/>
            </a:pPr>
            <a:r>
              <a:rPr lang="en-US" sz="1300" dirty="0">
                <a:solidFill>
                  <a:srgbClr val="5A6378"/>
                </a:solidFill>
                <a:latin typeface="Calibri" panose="020F0502020204030204" pitchFamily="34" charset="0"/>
                <a:ea typeface="Calibri" panose="020F0502020204030204" pitchFamily="34" charset="-122"/>
                <a:cs typeface="Calibri" panose="020F0502020204030204" pitchFamily="34" charset="-120"/>
              </a:rPr>
              <a:t>Rounds</a:t>
            </a:r>
            <a:endParaRPr lang="en-US" sz="1300" dirty="0"/>
          </a:p>
        </p:txBody>
      </p:sp>
      <p:sp>
        <p:nvSpPr>
          <p:cNvPr id="14" name="Shape 12"/>
          <p:cNvSpPr/>
          <p:nvPr/>
        </p:nvSpPr>
        <p:spPr>
          <a:xfrm>
            <a:off x="3246120" y="4663440"/>
            <a:ext cx="2606040" cy="114300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5" name="Text 13"/>
          <p:cNvSpPr/>
          <p:nvPr/>
        </p:nvSpPr>
        <p:spPr>
          <a:xfrm>
            <a:off x="3246120" y="4828032"/>
            <a:ext cx="2606040" cy="502920"/>
          </a:xfrm>
          <a:prstGeom prst="rect">
            <a:avLst/>
          </a:prstGeom>
          <a:noFill/>
        </p:spPr>
        <p:txBody>
          <a:bodyPr wrap="square" lIns="0" tIns="0" rIns="0" bIns="0" rtlCol="0" anchor="ctr"/>
          <a:lstStyle/>
          <a:p>
            <a:pPr marL="0" indent="0" algn="ctr">
              <a:buNone/>
            </a:pPr>
            <a:r>
              <a:rPr lang="en-US" sz="2600" b="1" dirty="0">
                <a:solidFill>
                  <a:srgbClr val="F96167"/>
                </a:solidFill>
                <a:latin typeface="Georgia" panose="02040502050405020303" pitchFamily="34" charset="0"/>
                <a:ea typeface="Georgia" panose="02040502050405020303" pitchFamily="34" charset="-122"/>
                <a:cs typeface="Georgia" panose="02040502050405020303" pitchFamily="34" charset="-120"/>
              </a:rPr>
              <a:t>GF(2^4)</a:t>
            </a:r>
            <a:endParaRPr lang="en-US" sz="2600" dirty="0"/>
          </a:p>
        </p:txBody>
      </p:sp>
      <p:sp>
        <p:nvSpPr>
          <p:cNvPr id="16" name="Text 14"/>
          <p:cNvSpPr/>
          <p:nvPr/>
        </p:nvSpPr>
        <p:spPr>
          <a:xfrm>
            <a:off x="3246120" y="5349240"/>
            <a:ext cx="2606040" cy="365760"/>
          </a:xfrm>
          <a:prstGeom prst="rect">
            <a:avLst/>
          </a:prstGeom>
          <a:noFill/>
        </p:spPr>
        <p:txBody>
          <a:bodyPr wrap="square" lIns="0" tIns="0" rIns="0" bIns="0" rtlCol="0" anchor="ctr"/>
          <a:lstStyle/>
          <a:p>
            <a:pPr marL="0" indent="0" algn="ctr">
              <a:buNone/>
            </a:pPr>
            <a:r>
              <a:rPr lang="en-US" sz="1300" dirty="0">
                <a:solidFill>
                  <a:srgbClr val="5A6378"/>
                </a:solidFill>
                <a:latin typeface="Calibri" panose="020F0502020204030204" pitchFamily="34" charset="0"/>
                <a:ea typeface="Calibri" panose="020F0502020204030204" pitchFamily="34" charset="-122"/>
                <a:cs typeface="Calibri" panose="020F0502020204030204" pitchFamily="34" charset="-120"/>
              </a:rPr>
              <a:t>Finite field used</a:t>
            </a:r>
            <a:endParaRPr lang="en-US" sz="1300" dirty="0"/>
          </a:p>
        </p:txBody>
      </p:sp>
      <p:sp>
        <p:nvSpPr>
          <p:cNvPr id="17" name="Shape 15"/>
          <p:cNvSpPr/>
          <p:nvPr/>
        </p:nvSpPr>
        <p:spPr>
          <a:xfrm>
            <a:off x="6126480" y="1417320"/>
            <a:ext cx="5577840" cy="3931920"/>
          </a:xfrm>
          <a:prstGeom prst="rect">
            <a:avLst/>
          </a:prstGeom>
          <a:solidFill>
            <a:srgbClr val="FFFFFF"/>
          </a:solidFill>
          <a:ln w="12700">
            <a:solidFill>
              <a:srgbClr val="E2E8F0"/>
            </a:solidFill>
            <a:prstDash val="solid"/>
          </a:ln>
          <a:effectLst>
            <a:outerShdw blurRad="76200" dist="12700" dir="5400000" algn="bl" rotWithShape="0">
              <a:srgbClr val="000000">
                <a:alpha val="6000"/>
              </a:srgbClr>
            </a:outerShdw>
          </a:effectLst>
        </p:spPr>
      </p:sp>
      <p:sp>
        <p:nvSpPr>
          <p:cNvPr id="18" name="Shape 16"/>
          <p:cNvSpPr/>
          <p:nvPr/>
        </p:nvSpPr>
        <p:spPr>
          <a:xfrm>
            <a:off x="6126480" y="1417320"/>
            <a:ext cx="5577840" cy="502920"/>
          </a:xfrm>
          <a:prstGeom prst="rect">
            <a:avLst/>
          </a:prstGeom>
          <a:solidFill>
            <a:srgbClr val="065A82"/>
          </a:solidFill>
          <a:ln w="12700">
            <a:solidFill>
              <a:srgbClr val="065A82"/>
            </a:solidFill>
            <a:prstDash val="solid"/>
          </a:ln>
        </p:spPr>
      </p:sp>
      <p:sp>
        <p:nvSpPr>
          <p:cNvPr id="19" name="Text 17"/>
          <p:cNvSpPr/>
          <p:nvPr/>
        </p:nvSpPr>
        <p:spPr>
          <a:xfrm>
            <a:off x="6126480" y="1417320"/>
            <a:ext cx="557784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S-AES  vs  Real AES</a:t>
            </a:r>
            <a:endParaRPr lang="en-US" sz="1600" dirty="0"/>
          </a:p>
        </p:txBody>
      </p:sp>
      <p:graphicFrame>
        <p:nvGraphicFramePr>
          <p:cNvPr id="20" name="Table 0"/>
          <p:cNvGraphicFramePr>
            <a:graphicFrameLocks noGrp="1"/>
          </p:cNvGraphicFramePr>
          <p:nvPr/>
        </p:nvGraphicFramePr>
        <p:xfrm>
          <a:off x="6263640" y="2057400"/>
          <a:ext cx="5303520" cy="2468880"/>
        </p:xfrm>
        <a:graphic>
          <a:graphicData uri="http://schemas.openxmlformats.org/drawingml/2006/table">
            <a:tbl>
              <a:tblPr/>
              <a:tblGrid>
                <a:gridCol w="1737360"/>
                <a:gridCol w="1737360"/>
                <a:gridCol w="1828800"/>
              </a:tblGrid>
              <a:tr h="411480">
                <a:tc>
                  <a:txBody>
                    <a:bodyPr/>
                    <a:lstStyle/>
                    <a:p>
                      <a:pPr marL="0" indent="0">
                        <a:buNone/>
                      </a:pPr>
                      <a:r>
                        <a:rPr lang="en-US" sz="1200" b="1" dirty="0">
                          <a:solidFill>
                            <a:srgbClr val="1A1F36"/>
                          </a:solidFill>
                          <a:latin typeface="Calibri" panose="020F0502020204030204" pitchFamily="34" charset="0"/>
                          <a:ea typeface="Calibri" panose="020F0502020204030204" pitchFamily="34" charset="-122"/>
                          <a:cs typeface="Calibri" panose="020F0502020204030204" pitchFamily="34" charset="-120"/>
                        </a:rPr>
                        <a:t>Parameter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dirty="0">
                          <a:solidFill>
                            <a:srgbClr val="F96167"/>
                          </a:solidFill>
                          <a:latin typeface="Calibri" panose="020F0502020204030204" pitchFamily="34" charset="0"/>
                          <a:ea typeface="Calibri" panose="020F0502020204030204" pitchFamily="34" charset="-122"/>
                          <a:cs typeface="Calibri" panose="020F0502020204030204" pitchFamily="34" charset="-120"/>
                        </a:rPr>
                        <a:t>S-AES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dirty="0">
                          <a:solidFill>
                            <a:srgbClr val="065A82"/>
                          </a:solidFill>
                          <a:latin typeface="Calibri" panose="020F0502020204030204" pitchFamily="34" charset="0"/>
                          <a:ea typeface="Calibri" panose="020F0502020204030204" pitchFamily="34" charset="-122"/>
                          <a:cs typeface="Calibri" panose="020F0502020204030204" pitchFamily="34" charset="-120"/>
                        </a:rPr>
                        <a:t>AES-128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Block size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F96167"/>
                          </a:solidFill>
                          <a:latin typeface="Calibri" panose="020F0502020204030204" pitchFamily="34" charset="0"/>
                          <a:ea typeface="Calibri" panose="020F0502020204030204" pitchFamily="34" charset="-122"/>
                          <a:cs typeface="Calibri" panose="020F0502020204030204" pitchFamily="34" charset="-120"/>
                        </a:rPr>
                        <a:t>16 bits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65A82"/>
                          </a:solidFill>
                          <a:latin typeface="Calibri" panose="020F0502020204030204" pitchFamily="34" charset="0"/>
                          <a:ea typeface="Calibri" panose="020F0502020204030204" pitchFamily="34" charset="-122"/>
                          <a:cs typeface="Calibri" panose="020F0502020204030204" pitchFamily="34" charset="-120"/>
                        </a:rPr>
                        <a:t>128 bits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Key size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F96167"/>
                          </a:solidFill>
                          <a:latin typeface="Calibri" panose="020F0502020204030204" pitchFamily="34" charset="0"/>
                          <a:ea typeface="Calibri" panose="020F0502020204030204" pitchFamily="34" charset="-122"/>
                          <a:cs typeface="Calibri" panose="020F0502020204030204" pitchFamily="34" charset="-120"/>
                        </a:rPr>
                        <a:t>16 bits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65A82"/>
                          </a:solidFill>
                          <a:latin typeface="Calibri" panose="020F0502020204030204" pitchFamily="34" charset="0"/>
                          <a:ea typeface="Calibri" panose="020F0502020204030204" pitchFamily="34" charset="-122"/>
                          <a:cs typeface="Calibri" panose="020F0502020204030204" pitchFamily="34" charset="-120"/>
                        </a:rPr>
                        <a:t>128 bits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Rounds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F96167"/>
                          </a:solidFill>
                          <a:latin typeface="Calibri" panose="020F0502020204030204" pitchFamily="34" charset="0"/>
                          <a:ea typeface="Calibri" panose="020F0502020204030204" pitchFamily="34" charset="-122"/>
                          <a:cs typeface="Calibri" panose="020F0502020204030204" pitchFamily="34" charset="-120"/>
                        </a:rPr>
                        <a:t>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65A82"/>
                          </a:solidFill>
                          <a:latin typeface="Calibri" panose="020F0502020204030204" pitchFamily="34" charset="0"/>
                          <a:ea typeface="Calibri" panose="020F0502020204030204" pitchFamily="34" charset="-122"/>
                          <a:cs typeface="Calibri" panose="020F0502020204030204" pitchFamily="34" charset="-120"/>
                        </a:rPr>
                        <a:t>10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S-Box size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F96167"/>
                          </a:solidFill>
                          <a:latin typeface="Calibri" panose="020F0502020204030204" pitchFamily="34" charset="0"/>
                          <a:ea typeface="Calibri" panose="020F0502020204030204" pitchFamily="34" charset="-122"/>
                          <a:cs typeface="Calibri" panose="020F0502020204030204" pitchFamily="34" charset="-120"/>
                        </a:rPr>
                        <a:t>16 entries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65A82"/>
                          </a:solidFill>
                          <a:latin typeface="Calibri" panose="020F0502020204030204" pitchFamily="34" charset="0"/>
                          <a:ea typeface="Calibri" panose="020F0502020204030204" pitchFamily="34" charset="-122"/>
                          <a:cs typeface="Calibri" panose="020F0502020204030204" pitchFamily="34" charset="-120"/>
                        </a:rPr>
                        <a:t>256 entries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Key space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F96167"/>
                          </a:solidFill>
                          <a:latin typeface="Calibri" panose="020F0502020204030204" pitchFamily="34" charset="0"/>
                          <a:ea typeface="Calibri" panose="020F0502020204030204" pitchFamily="34" charset="-122"/>
                          <a:cs typeface="Calibri" panose="020F0502020204030204" pitchFamily="34" charset="-120"/>
                        </a:rPr>
                        <a:t>65,536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65A82"/>
                          </a:solidFill>
                          <a:latin typeface="Calibri" panose="020F0502020204030204" pitchFamily="34" charset="0"/>
                          <a:ea typeface="Calibri" panose="020F0502020204030204" pitchFamily="34" charset="-122"/>
                          <a:cs typeface="Calibri" panose="020F0502020204030204" pitchFamily="34" charset="-120"/>
                        </a:rPr>
                        <a:t>3.4 x 10^38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21" name="Text 18"/>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22" name="Text 19"/>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S-AES Round Structure</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One Add-Round-Key followed by two rounds</a:t>
            </a:r>
            <a:endParaRPr lang="en-US" sz="1400" dirty="0"/>
          </a:p>
        </p:txBody>
      </p:sp>
      <p:pic>
        <p:nvPicPr>
          <p:cNvPr id="4" name="Image 0" descr="presentation_assets/saes_structure.png"/>
          <p:cNvPicPr>
            <a:picLocks noChangeAspect="1"/>
          </p:cNvPicPr>
          <p:nvPr/>
        </p:nvPicPr>
        <p:blipFill>
          <a:blip r:embed="rId1"/>
          <a:stretch>
            <a:fillRect/>
          </a:stretch>
        </p:blipFill>
        <p:spPr>
          <a:xfrm>
            <a:off x="502920" y="1325880"/>
            <a:ext cx="6583680" cy="5120640"/>
          </a:xfrm>
          <a:prstGeom prst="rect">
            <a:avLst/>
          </a:prstGeom>
        </p:spPr>
      </p:pic>
      <p:sp>
        <p:nvSpPr>
          <p:cNvPr id="5" name="Shape 2"/>
          <p:cNvSpPr/>
          <p:nvPr/>
        </p:nvSpPr>
        <p:spPr>
          <a:xfrm>
            <a:off x="7315200" y="1325880"/>
            <a:ext cx="4572000" cy="1170432"/>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6" name="Shape 3"/>
          <p:cNvSpPr/>
          <p:nvPr/>
        </p:nvSpPr>
        <p:spPr>
          <a:xfrm>
            <a:off x="7315200" y="1325880"/>
            <a:ext cx="73152" cy="1170432"/>
          </a:xfrm>
          <a:prstGeom prst="rect">
            <a:avLst/>
          </a:prstGeom>
          <a:solidFill>
            <a:srgbClr val="065A82"/>
          </a:solidFill>
          <a:ln w="12700">
            <a:solidFill>
              <a:srgbClr val="065A82"/>
            </a:solidFill>
            <a:prstDash val="solid"/>
          </a:ln>
        </p:spPr>
      </p:sp>
      <p:pic>
        <p:nvPicPr>
          <p:cNvPr id="7" name="Image 1" descr="preencoded.png"/>
          <p:cNvPicPr>
            <a:picLocks noChangeAspect="1"/>
          </p:cNvPicPr>
          <p:nvPr/>
        </p:nvPicPr>
        <p:blipFill>
          <a:blip r:embed="rId2"/>
          <a:stretch>
            <a:fillRect/>
          </a:stretch>
        </p:blipFill>
        <p:spPr>
          <a:xfrm>
            <a:off x="7498080" y="1508760"/>
            <a:ext cx="365760" cy="365760"/>
          </a:xfrm>
          <a:prstGeom prst="rect">
            <a:avLst/>
          </a:prstGeom>
        </p:spPr>
      </p:pic>
      <p:sp>
        <p:nvSpPr>
          <p:cNvPr id="8" name="Text 4"/>
          <p:cNvSpPr/>
          <p:nvPr/>
        </p:nvSpPr>
        <p:spPr>
          <a:xfrm>
            <a:off x="8001000" y="1435608"/>
            <a:ext cx="3794760" cy="320040"/>
          </a:xfrm>
          <a:prstGeom prst="rect">
            <a:avLst/>
          </a:prstGeom>
          <a:noFill/>
        </p:spPr>
        <p:txBody>
          <a:bodyPr wrap="square" lIns="0" tIns="0" rIns="0" bIns="0" rtlCol="0" anchor="ctr"/>
          <a:lstStyle/>
          <a:p>
            <a:pPr marL="0" indent="0">
              <a:buNone/>
            </a:pPr>
            <a:r>
              <a:rPr lang="en-US" sz="1500" b="1" dirty="0">
                <a:solidFill>
                  <a:srgbClr val="21295C"/>
                </a:solidFill>
                <a:latin typeface="Calibri" panose="020F0502020204030204" pitchFamily="34" charset="0"/>
                <a:ea typeface="Calibri" panose="020F0502020204030204" pitchFamily="34" charset="-122"/>
                <a:cs typeface="Calibri" panose="020F0502020204030204" pitchFamily="34" charset="-120"/>
              </a:rPr>
              <a:t>SubNibbles</a:t>
            </a:r>
            <a:endParaRPr lang="en-US" sz="1500" dirty="0"/>
          </a:p>
        </p:txBody>
      </p:sp>
      <p:sp>
        <p:nvSpPr>
          <p:cNvPr id="9" name="Text 5"/>
          <p:cNvSpPr/>
          <p:nvPr/>
        </p:nvSpPr>
        <p:spPr>
          <a:xfrm>
            <a:off x="8001000" y="1764792"/>
            <a:ext cx="3749040" cy="68580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Each 4-bit nibble is replaced using a fixed 16-entry S-box, providing non-linear confusion.</a:t>
            </a:r>
            <a:endParaRPr lang="en-US" sz="1100" dirty="0"/>
          </a:p>
        </p:txBody>
      </p:sp>
      <p:sp>
        <p:nvSpPr>
          <p:cNvPr id="10" name="Shape 6"/>
          <p:cNvSpPr/>
          <p:nvPr/>
        </p:nvSpPr>
        <p:spPr>
          <a:xfrm>
            <a:off x="7315200" y="2578608"/>
            <a:ext cx="4572000" cy="1170432"/>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1" name="Shape 7"/>
          <p:cNvSpPr/>
          <p:nvPr/>
        </p:nvSpPr>
        <p:spPr>
          <a:xfrm>
            <a:off x="7315200" y="2578608"/>
            <a:ext cx="73152" cy="1170432"/>
          </a:xfrm>
          <a:prstGeom prst="rect">
            <a:avLst/>
          </a:prstGeom>
          <a:solidFill>
            <a:srgbClr val="065A82"/>
          </a:solidFill>
          <a:ln w="12700">
            <a:solidFill>
              <a:srgbClr val="065A82"/>
            </a:solidFill>
            <a:prstDash val="solid"/>
          </a:ln>
        </p:spPr>
      </p:sp>
      <p:pic>
        <p:nvPicPr>
          <p:cNvPr id="12" name="Image 2" descr="preencoded.png"/>
          <p:cNvPicPr>
            <a:picLocks noChangeAspect="1"/>
          </p:cNvPicPr>
          <p:nvPr/>
        </p:nvPicPr>
        <p:blipFill>
          <a:blip r:embed="rId2"/>
          <a:stretch>
            <a:fillRect/>
          </a:stretch>
        </p:blipFill>
        <p:spPr>
          <a:xfrm>
            <a:off x="7498080" y="2761488"/>
            <a:ext cx="365760" cy="365760"/>
          </a:xfrm>
          <a:prstGeom prst="rect">
            <a:avLst/>
          </a:prstGeom>
        </p:spPr>
      </p:pic>
      <p:sp>
        <p:nvSpPr>
          <p:cNvPr id="13" name="Text 8"/>
          <p:cNvSpPr/>
          <p:nvPr/>
        </p:nvSpPr>
        <p:spPr>
          <a:xfrm>
            <a:off x="8001000" y="2688336"/>
            <a:ext cx="3794760" cy="320040"/>
          </a:xfrm>
          <a:prstGeom prst="rect">
            <a:avLst/>
          </a:prstGeom>
          <a:noFill/>
        </p:spPr>
        <p:txBody>
          <a:bodyPr wrap="square" lIns="0" tIns="0" rIns="0" bIns="0" rtlCol="0" anchor="ctr"/>
          <a:lstStyle/>
          <a:p>
            <a:pPr marL="0" indent="0">
              <a:buNone/>
            </a:pPr>
            <a:r>
              <a:rPr lang="en-US" sz="1500" b="1" dirty="0">
                <a:solidFill>
                  <a:srgbClr val="21295C"/>
                </a:solidFill>
                <a:latin typeface="Calibri" panose="020F0502020204030204" pitchFamily="34" charset="0"/>
                <a:ea typeface="Calibri" panose="020F0502020204030204" pitchFamily="34" charset="-122"/>
                <a:cs typeface="Calibri" panose="020F0502020204030204" pitchFamily="34" charset="-120"/>
              </a:rPr>
              <a:t>ShiftRows</a:t>
            </a:r>
            <a:endParaRPr lang="en-US" sz="1500" dirty="0"/>
          </a:p>
        </p:txBody>
      </p:sp>
      <p:sp>
        <p:nvSpPr>
          <p:cNvPr id="14" name="Text 9"/>
          <p:cNvSpPr/>
          <p:nvPr/>
        </p:nvSpPr>
        <p:spPr>
          <a:xfrm>
            <a:off x="8001000" y="3017520"/>
            <a:ext cx="3749040" cy="68580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The two nibbles of the second row are swapped. On a 2x2 state this is the smallest form of diffusion.</a:t>
            </a:r>
            <a:endParaRPr lang="en-US" sz="1100" dirty="0"/>
          </a:p>
        </p:txBody>
      </p:sp>
      <p:sp>
        <p:nvSpPr>
          <p:cNvPr id="15" name="Shape 10"/>
          <p:cNvSpPr/>
          <p:nvPr/>
        </p:nvSpPr>
        <p:spPr>
          <a:xfrm>
            <a:off x="7315200" y="3831336"/>
            <a:ext cx="4572000" cy="1170432"/>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6" name="Shape 11"/>
          <p:cNvSpPr/>
          <p:nvPr/>
        </p:nvSpPr>
        <p:spPr>
          <a:xfrm>
            <a:off x="7315200" y="3831336"/>
            <a:ext cx="73152" cy="1170432"/>
          </a:xfrm>
          <a:prstGeom prst="rect">
            <a:avLst/>
          </a:prstGeom>
          <a:solidFill>
            <a:srgbClr val="065A82"/>
          </a:solidFill>
          <a:ln w="12700">
            <a:solidFill>
              <a:srgbClr val="065A82"/>
            </a:solidFill>
            <a:prstDash val="solid"/>
          </a:ln>
        </p:spPr>
      </p:sp>
      <p:pic>
        <p:nvPicPr>
          <p:cNvPr id="17" name="Image 3" descr="preencoded.png"/>
          <p:cNvPicPr>
            <a:picLocks noChangeAspect="1"/>
          </p:cNvPicPr>
          <p:nvPr/>
        </p:nvPicPr>
        <p:blipFill>
          <a:blip r:embed="rId2"/>
          <a:stretch>
            <a:fillRect/>
          </a:stretch>
        </p:blipFill>
        <p:spPr>
          <a:xfrm>
            <a:off x="7498080" y="4014216"/>
            <a:ext cx="365760" cy="365760"/>
          </a:xfrm>
          <a:prstGeom prst="rect">
            <a:avLst/>
          </a:prstGeom>
        </p:spPr>
      </p:pic>
      <p:sp>
        <p:nvSpPr>
          <p:cNvPr id="18" name="Text 12"/>
          <p:cNvSpPr/>
          <p:nvPr/>
        </p:nvSpPr>
        <p:spPr>
          <a:xfrm>
            <a:off x="8001000" y="3941064"/>
            <a:ext cx="3794760" cy="320040"/>
          </a:xfrm>
          <a:prstGeom prst="rect">
            <a:avLst/>
          </a:prstGeom>
          <a:noFill/>
        </p:spPr>
        <p:txBody>
          <a:bodyPr wrap="square" lIns="0" tIns="0" rIns="0" bIns="0" rtlCol="0" anchor="ctr"/>
          <a:lstStyle/>
          <a:p>
            <a:pPr marL="0" indent="0">
              <a:buNone/>
            </a:pPr>
            <a:r>
              <a:rPr lang="en-US" sz="1500" b="1" dirty="0">
                <a:solidFill>
                  <a:srgbClr val="21295C"/>
                </a:solidFill>
                <a:latin typeface="Calibri" panose="020F0502020204030204" pitchFamily="34" charset="0"/>
                <a:ea typeface="Calibri" panose="020F0502020204030204" pitchFamily="34" charset="-122"/>
                <a:cs typeface="Calibri" panose="020F0502020204030204" pitchFamily="34" charset="-120"/>
              </a:rPr>
              <a:t>MixColumns</a:t>
            </a:r>
            <a:endParaRPr lang="en-US" sz="1500" dirty="0"/>
          </a:p>
        </p:txBody>
      </p:sp>
      <p:sp>
        <p:nvSpPr>
          <p:cNvPr id="19" name="Text 13"/>
          <p:cNvSpPr/>
          <p:nvPr/>
        </p:nvSpPr>
        <p:spPr>
          <a:xfrm>
            <a:off x="8001000" y="4270248"/>
            <a:ext cx="3749040" cy="68580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Each column is multiplied by the fixed matrix [[1,4],[4,1]] in GF(2^4) under x^4+x+1.</a:t>
            </a:r>
            <a:endParaRPr lang="en-US" sz="1100" dirty="0"/>
          </a:p>
        </p:txBody>
      </p:sp>
      <p:sp>
        <p:nvSpPr>
          <p:cNvPr id="20" name="Shape 14"/>
          <p:cNvSpPr/>
          <p:nvPr/>
        </p:nvSpPr>
        <p:spPr>
          <a:xfrm>
            <a:off x="7315200" y="5084064"/>
            <a:ext cx="4572000" cy="1170432"/>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21" name="Shape 15"/>
          <p:cNvSpPr/>
          <p:nvPr/>
        </p:nvSpPr>
        <p:spPr>
          <a:xfrm>
            <a:off x="7315200" y="5084064"/>
            <a:ext cx="73152" cy="1170432"/>
          </a:xfrm>
          <a:prstGeom prst="rect">
            <a:avLst/>
          </a:prstGeom>
          <a:solidFill>
            <a:srgbClr val="065A82"/>
          </a:solidFill>
          <a:ln w="12700">
            <a:solidFill>
              <a:srgbClr val="065A82"/>
            </a:solidFill>
            <a:prstDash val="solid"/>
          </a:ln>
        </p:spPr>
      </p:sp>
      <p:pic>
        <p:nvPicPr>
          <p:cNvPr id="22" name="Image 4" descr="preencoded.png"/>
          <p:cNvPicPr>
            <a:picLocks noChangeAspect="1"/>
          </p:cNvPicPr>
          <p:nvPr/>
        </p:nvPicPr>
        <p:blipFill>
          <a:blip r:embed="rId3"/>
          <a:stretch>
            <a:fillRect/>
          </a:stretch>
        </p:blipFill>
        <p:spPr>
          <a:xfrm>
            <a:off x="7498080" y="5266944"/>
            <a:ext cx="365760" cy="365760"/>
          </a:xfrm>
          <a:prstGeom prst="rect">
            <a:avLst/>
          </a:prstGeom>
        </p:spPr>
      </p:pic>
      <p:sp>
        <p:nvSpPr>
          <p:cNvPr id="23" name="Text 16"/>
          <p:cNvSpPr/>
          <p:nvPr/>
        </p:nvSpPr>
        <p:spPr>
          <a:xfrm>
            <a:off x="8001000" y="5193792"/>
            <a:ext cx="3794760" cy="320040"/>
          </a:xfrm>
          <a:prstGeom prst="rect">
            <a:avLst/>
          </a:prstGeom>
          <a:noFill/>
        </p:spPr>
        <p:txBody>
          <a:bodyPr wrap="square" lIns="0" tIns="0" rIns="0" bIns="0" rtlCol="0" anchor="ctr"/>
          <a:lstStyle/>
          <a:p>
            <a:pPr marL="0" indent="0">
              <a:buNone/>
            </a:pPr>
            <a:r>
              <a:rPr lang="en-US" sz="1500" b="1" dirty="0">
                <a:solidFill>
                  <a:srgbClr val="21295C"/>
                </a:solidFill>
                <a:latin typeface="Calibri" panose="020F0502020204030204" pitchFamily="34" charset="0"/>
                <a:ea typeface="Calibri" panose="020F0502020204030204" pitchFamily="34" charset="-122"/>
                <a:cs typeface="Calibri" panose="020F0502020204030204" pitchFamily="34" charset="-120"/>
              </a:rPr>
              <a:t>AddRoundKey</a:t>
            </a:r>
            <a:endParaRPr lang="en-US" sz="1500" dirty="0"/>
          </a:p>
        </p:txBody>
      </p:sp>
      <p:sp>
        <p:nvSpPr>
          <p:cNvPr id="24" name="Text 17"/>
          <p:cNvSpPr/>
          <p:nvPr/>
        </p:nvSpPr>
        <p:spPr>
          <a:xfrm>
            <a:off x="8001000" y="5522976"/>
            <a:ext cx="3749040" cy="68580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The state is XORed with one of three 16-bit round keys produced by the key schedule.</a:t>
            </a:r>
            <a:endParaRPr lang="en-US" sz="1100" dirty="0"/>
          </a:p>
        </p:txBody>
      </p:sp>
      <p:sp>
        <p:nvSpPr>
          <p:cNvPr id="25" name="Text 18"/>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26" name="Text 19"/>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CFB Mode of Operation</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altLang="en-US" sz="1400" dirty="0"/>
              <a:t>Turning a block cipher into a stream cipher</a:t>
            </a:r>
            <a:endParaRPr lang="en-US" altLang="en-US" sz="1400" dirty="0"/>
          </a:p>
        </p:txBody>
      </p:sp>
      <p:sp>
        <p:nvSpPr>
          <p:cNvPr id="5" name="Shape 2"/>
          <p:cNvSpPr/>
          <p:nvPr/>
        </p:nvSpPr>
        <p:spPr>
          <a:xfrm>
            <a:off x="8732520" y="1325880"/>
            <a:ext cx="3017520" cy="402336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6" name="Shape 3"/>
          <p:cNvSpPr/>
          <p:nvPr/>
        </p:nvSpPr>
        <p:spPr>
          <a:xfrm>
            <a:off x="8732520" y="1325880"/>
            <a:ext cx="3017520" cy="457200"/>
          </a:xfrm>
          <a:prstGeom prst="rect">
            <a:avLst/>
          </a:prstGeom>
          <a:solidFill>
            <a:srgbClr val="21295C"/>
          </a:solidFill>
          <a:ln w="12700">
            <a:solidFill>
              <a:srgbClr val="21295C"/>
            </a:solidFill>
            <a:prstDash val="solid"/>
          </a:ln>
        </p:spPr>
      </p:sp>
      <p:sp>
        <p:nvSpPr>
          <p:cNvPr id="7" name="Text 4"/>
          <p:cNvSpPr/>
          <p:nvPr/>
        </p:nvSpPr>
        <p:spPr>
          <a:xfrm>
            <a:off x="8732520" y="1325880"/>
            <a:ext cx="301752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Formulas</a:t>
            </a:r>
            <a:endParaRPr lang="en-US" sz="1400" dirty="0"/>
          </a:p>
        </p:txBody>
      </p:sp>
      <p:sp>
        <p:nvSpPr>
          <p:cNvPr id="8" name="Text 5"/>
          <p:cNvSpPr/>
          <p:nvPr/>
        </p:nvSpPr>
        <p:spPr>
          <a:xfrm>
            <a:off x="8915400" y="1920240"/>
            <a:ext cx="2743200" cy="274320"/>
          </a:xfrm>
          <a:prstGeom prst="rect">
            <a:avLst/>
          </a:prstGeom>
          <a:noFill/>
        </p:spPr>
        <p:txBody>
          <a:bodyPr wrap="square" lIns="0" tIns="0" rIns="0" bIns="0" rtlCol="0" anchor="ctr"/>
          <a:lstStyle/>
          <a:p>
            <a:pPr marL="0" indent="0">
              <a:buNone/>
            </a:pPr>
            <a:r>
              <a:rPr lang="en-US" sz="1200" b="1" dirty="0">
                <a:solidFill>
                  <a:srgbClr val="065A82"/>
                </a:solidFill>
                <a:latin typeface="Calibri" panose="020F0502020204030204" pitchFamily="34" charset="0"/>
                <a:ea typeface="Calibri" panose="020F0502020204030204" pitchFamily="34" charset="-122"/>
                <a:cs typeface="Calibri" panose="020F0502020204030204" pitchFamily="34" charset="-120"/>
              </a:rPr>
              <a:t>Encrypt</a:t>
            </a:r>
            <a:endParaRPr lang="en-US" sz="1200" dirty="0"/>
          </a:p>
        </p:txBody>
      </p:sp>
      <p:sp>
        <p:nvSpPr>
          <p:cNvPr id="9" name="Text 6"/>
          <p:cNvSpPr/>
          <p:nvPr/>
        </p:nvSpPr>
        <p:spPr>
          <a:xfrm>
            <a:off x="8915400" y="2194560"/>
            <a:ext cx="2743200" cy="365760"/>
          </a:xfrm>
          <a:prstGeom prst="rect">
            <a:avLst/>
          </a:prstGeom>
          <a:noFill/>
        </p:spPr>
        <p:txBody>
          <a:bodyPr wrap="square" lIns="0" tIns="0" rIns="0" bIns="0" rtlCol="0" anchor="ctr"/>
          <a:lstStyle/>
          <a:p>
            <a:pPr marL="0" indent="0">
              <a:buNone/>
            </a:pPr>
            <a:r>
              <a:rPr lang="en-US" sz="1300" dirty="0">
                <a:solidFill>
                  <a:srgbClr val="1A1F36"/>
                </a:solidFill>
                <a:latin typeface="Consolas" panose="020B0609020204030204" pitchFamily="34" charset="0"/>
                <a:ea typeface="Consolas" panose="020B0609020204030204" pitchFamily="34" charset="-122"/>
                <a:cs typeface="Consolas" panose="020B0609020204030204" pitchFamily="34" charset="-120"/>
              </a:rPr>
              <a:t>Ci = Pi XOR Ek </a:t>
            </a:r>
            <a:r>
              <a:rPr lang="en-US" altLang="en-US" sz="1300" dirty="0"/>
              <a:t>(Ci−1)</a:t>
            </a:r>
            <a:endParaRPr lang="en-US" altLang="en-US" sz="1300" dirty="0"/>
          </a:p>
          <a:p>
            <a:pPr marL="0" indent="0">
              <a:buNone/>
            </a:pPr>
            <a:endParaRPr lang="en-US" altLang="en-US" sz="1300" dirty="0"/>
          </a:p>
        </p:txBody>
      </p:sp>
      <p:sp>
        <p:nvSpPr>
          <p:cNvPr id="10" name="Text 7"/>
          <p:cNvSpPr/>
          <p:nvPr/>
        </p:nvSpPr>
        <p:spPr>
          <a:xfrm>
            <a:off x="8915400" y="2514600"/>
            <a:ext cx="2743200" cy="365760"/>
          </a:xfrm>
          <a:prstGeom prst="rect">
            <a:avLst/>
          </a:prstGeom>
          <a:noFill/>
        </p:spPr>
        <p:txBody>
          <a:bodyPr wrap="square" lIns="0" tIns="0" rIns="0" bIns="0" rtlCol="0" anchor="ctr"/>
          <a:lstStyle/>
          <a:p>
            <a:pPr marL="0" indent="0">
              <a:buNone/>
            </a:pPr>
            <a:r>
              <a:rPr lang="en-US" sz="1100" i="1" dirty="0">
                <a:solidFill>
                  <a:srgbClr val="5A6378"/>
                </a:solidFill>
                <a:latin typeface="Calibri" panose="020F0502020204030204" pitchFamily="34" charset="0"/>
                <a:ea typeface="Calibri" panose="020F0502020204030204" pitchFamily="34" charset="-122"/>
                <a:cs typeface="Calibri" panose="020F0502020204030204" pitchFamily="34" charset="-120"/>
              </a:rPr>
              <a:t>C0 = IV   (initialization vector)</a:t>
            </a:r>
            <a:endParaRPr lang="en-US" sz="1100" dirty="0"/>
          </a:p>
        </p:txBody>
      </p:sp>
      <p:sp>
        <p:nvSpPr>
          <p:cNvPr id="11" name="Shape 8"/>
          <p:cNvSpPr/>
          <p:nvPr/>
        </p:nvSpPr>
        <p:spPr>
          <a:xfrm>
            <a:off x="8915400" y="3017520"/>
            <a:ext cx="2651760" cy="0"/>
          </a:xfrm>
          <a:prstGeom prst="line">
            <a:avLst/>
          </a:prstGeom>
          <a:noFill/>
          <a:ln w="12700">
            <a:solidFill>
              <a:srgbClr val="E2E8F0"/>
            </a:solidFill>
            <a:prstDash val="solid"/>
          </a:ln>
        </p:spPr>
      </p:sp>
      <p:sp>
        <p:nvSpPr>
          <p:cNvPr id="12" name="Text 9"/>
          <p:cNvSpPr/>
          <p:nvPr/>
        </p:nvSpPr>
        <p:spPr>
          <a:xfrm>
            <a:off x="8915400" y="3200400"/>
            <a:ext cx="2743200" cy="274320"/>
          </a:xfrm>
          <a:prstGeom prst="rect">
            <a:avLst/>
          </a:prstGeom>
          <a:noFill/>
        </p:spPr>
        <p:txBody>
          <a:bodyPr wrap="square" lIns="0" tIns="0" rIns="0" bIns="0" rtlCol="0" anchor="ctr"/>
          <a:lstStyle/>
          <a:p>
            <a:pPr marL="0" indent="0">
              <a:buNone/>
            </a:pPr>
            <a:r>
              <a:rPr lang="en-US" sz="1200" b="1" dirty="0">
                <a:solidFill>
                  <a:srgbClr val="F96167"/>
                </a:solidFill>
                <a:latin typeface="Calibri" panose="020F0502020204030204" pitchFamily="34" charset="0"/>
                <a:ea typeface="Calibri" panose="020F0502020204030204" pitchFamily="34" charset="-122"/>
                <a:cs typeface="Calibri" panose="020F0502020204030204" pitchFamily="34" charset="-120"/>
              </a:rPr>
              <a:t>Decrypt</a:t>
            </a:r>
            <a:endParaRPr lang="en-US" sz="1200" dirty="0"/>
          </a:p>
        </p:txBody>
      </p:sp>
      <p:sp>
        <p:nvSpPr>
          <p:cNvPr id="13" name="Text 10"/>
          <p:cNvSpPr/>
          <p:nvPr/>
        </p:nvSpPr>
        <p:spPr>
          <a:xfrm>
            <a:off x="8915400" y="3474720"/>
            <a:ext cx="2743200" cy="365760"/>
          </a:xfrm>
          <a:prstGeom prst="rect">
            <a:avLst/>
          </a:prstGeom>
          <a:noFill/>
        </p:spPr>
        <p:txBody>
          <a:bodyPr wrap="square" lIns="0" tIns="0" rIns="0" bIns="0" rtlCol="0" anchor="ctr"/>
          <a:lstStyle/>
          <a:p>
            <a:pPr marL="0" indent="0">
              <a:buNone/>
            </a:pPr>
            <a:r>
              <a:rPr lang="en-US" sz="1300" dirty="0">
                <a:solidFill>
                  <a:srgbClr val="1A1F36"/>
                </a:solidFill>
                <a:latin typeface="Consolas" panose="020B0609020204030204" pitchFamily="34" charset="0"/>
                <a:ea typeface="Consolas" panose="020B0609020204030204" pitchFamily="34" charset="-122"/>
                <a:cs typeface="Consolas" panose="020B0609020204030204" pitchFamily="34" charset="-120"/>
              </a:rPr>
              <a:t>Pi = Ci XOR Ek C(i-1) </a:t>
            </a:r>
            <a:endParaRPr lang="en-US" sz="1300" dirty="0"/>
          </a:p>
        </p:txBody>
      </p:sp>
      <p:sp>
        <p:nvSpPr>
          <p:cNvPr id="14" name="Shape 11"/>
          <p:cNvSpPr/>
          <p:nvPr/>
        </p:nvSpPr>
        <p:spPr>
          <a:xfrm>
            <a:off x="8915400" y="3977640"/>
            <a:ext cx="2651760" cy="0"/>
          </a:xfrm>
          <a:prstGeom prst="line">
            <a:avLst/>
          </a:prstGeom>
          <a:noFill/>
          <a:ln w="12700">
            <a:solidFill>
              <a:srgbClr val="E2E8F0"/>
            </a:solidFill>
            <a:prstDash val="solid"/>
          </a:ln>
        </p:spPr>
      </p:sp>
      <p:sp>
        <p:nvSpPr>
          <p:cNvPr id="15" name="Text 12"/>
          <p:cNvSpPr/>
          <p:nvPr/>
        </p:nvSpPr>
        <p:spPr>
          <a:xfrm>
            <a:off x="8915400" y="4160520"/>
            <a:ext cx="2743200" cy="274320"/>
          </a:xfrm>
          <a:prstGeom prst="rect">
            <a:avLst/>
          </a:prstGeom>
          <a:noFill/>
        </p:spPr>
        <p:txBody>
          <a:bodyPr wrap="square" lIns="0" tIns="0" rIns="0" bIns="0" rtlCol="0" anchor="ctr"/>
          <a:lstStyle/>
          <a:p>
            <a:pPr marL="0" indent="0">
              <a:buNone/>
            </a:pPr>
            <a:r>
              <a:rPr lang="en-US" sz="1200" b="1" dirty="0">
                <a:solidFill>
                  <a:srgbClr val="21295C"/>
                </a:solidFill>
                <a:latin typeface="Calibri" panose="020F0502020204030204" pitchFamily="34" charset="0"/>
                <a:ea typeface="Calibri" panose="020F0502020204030204" pitchFamily="34" charset="-122"/>
                <a:cs typeface="Calibri" panose="020F0502020204030204" pitchFamily="34" charset="-120"/>
              </a:rPr>
              <a:t>Why CFB?</a:t>
            </a:r>
            <a:endParaRPr lang="en-US" sz="1200" dirty="0"/>
          </a:p>
        </p:txBody>
      </p:sp>
      <p:sp>
        <p:nvSpPr>
          <p:cNvPr id="16" name="Text 13"/>
          <p:cNvSpPr/>
          <p:nvPr/>
        </p:nvSpPr>
        <p:spPr>
          <a:xfrm>
            <a:off x="8961120" y="4434840"/>
            <a:ext cx="2651760" cy="914400"/>
          </a:xfrm>
          <a:prstGeom prst="rect">
            <a:avLst/>
          </a:prstGeom>
          <a:noFill/>
        </p:spPr>
        <p:txBody>
          <a:bodyPr wrap="square" lIns="0" tIns="0" rIns="0" bIns="0" rtlCol="0" anchor="ctr"/>
          <a:lstStyle/>
          <a:p>
            <a:pPr marL="342900" indent="-342900">
              <a:spcAft>
                <a:spcPts val="300"/>
              </a:spcAft>
              <a:buSzPct val="100000"/>
              <a:buChar char="•"/>
            </a:pPr>
            <a:r>
              <a:rPr lang="en-US" altLang="en-US" sz="1000" dirty="0"/>
              <a:t>No padding required for bit-streams.</a:t>
            </a:r>
            <a:endParaRPr lang="en-US" altLang="en-US" sz="1000" dirty="0"/>
          </a:p>
          <a:p>
            <a:pPr marL="342900" indent="-342900">
              <a:spcAft>
                <a:spcPts val="300"/>
              </a:spcAft>
              <a:buSzPct val="100000"/>
              <a:buChar char="•"/>
            </a:pPr>
            <a:r>
              <a:rPr lang="en-US" altLang="en-US" sz="1000" dirty="0"/>
              <a:t>Converts block cipher to stream cipher.</a:t>
            </a:r>
            <a:endParaRPr lang="en-US" altLang="en-US" sz="1000" dirty="0"/>
          </a:p>
          <a:p>
            <a:pPr marL="342900" indent="-342900">
              <a:spcAft>
                <a:spcPts val="300"/>
              </a:spcAft>
              <a:buSzPct val="100000"/>
              <a:buChar char="•"/>
            </a:pPr>
            <a:r>
              <a:rPr lang="en-US" altLang="en-US" sz="1000" dirty="0"/>
              <a:t>Hides patterns effectively (like your chessboard).</a:t>
            </a:r>
            <a:endParaRPr lang="en-US" altLang="en-US" sz="1000" dirty="0"/>
          </a:p>
        </p:txBody>
      </p:sp>
      <p:sp>
        <p:nvSpPr>
          <p:cNvPr id="17" name="Text 14"/>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18" name="Text 15"/>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5 / 12</a:t>
            </a:r>
            <a:endParaRPr lang="en-US" sz="1000" dirty="0"/>
          </a:p>
        </p:txBody>
      </p:sp>
      <p:pic>
        <p:nvPicPr>
          <p:cNvPr id="23" name="Picture 22" descr="Screenshot 2026-04-24 224443"/>
          <p:cNvPicPr>
            <a:picLocks noChangeAspect="1"/>
          </p:cNvPicPr>
          <p:nvPr/>
        </p:nvPicPr>
        <p:blipFill>
          <a:blip r:embed="rId1"/>
          <a:stretch>
            <a:fillRect/>
          </a:stretch>
        </p:blipFill>
        <p:spPr>
          <a:xfrm>
            <a:off x="499110" y="1326515"/>
            <a:ext cx="7848600" cy="33369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Why Chaining Matters</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Visual proof that S-AES/CFB destroys plaintext patterns</a:t>
            </a:r>
            <a:endParaRPr lang="en-US" sz="1400" dirty="0"/>
          </a:p>
        </p:txBody>
      </p:sp>
      <p:sp>
        <p:nvSpPr>
          <p:cNvPr id="5" name="Shape 2"/>
          <p:cNvSpPr/>
          <p:nvPr/>
        </p:nvSpPr>
        <p:spPr>
          <a:xfrm>
            <a:off x="502920" y="5074920"/>
            <a:ext cx="3749040" cy="1417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pic>
        <p:nvPicPr>
          <p:cNvPr id="6" name="Image 1" descr="preencoded.png"/>
          <p:cNvPicPr>
            <a:picLocks noChangeAspect="1"/>
          </p:cNvPicPr>
          <p:nvPr/>
        </p:nvPicPr>
        <p:blipFill>
          <a:blip r:embed="rId1"/>
          <a:stretch>
            <a:fillRect/>
          </a:stretch>
        </p:blipFill>
        <p:spPr>
          <a:xfrm>
            <a:off x="731520" y="5257800"/>
            <a:ext cx="347472" cy="347472"/>
          </a:xfrm>
          <a:prstGeom prst="rect">
            <a:avLst/>
          </a:prstGeom>
        </p:spPr>
      </p:pic>
      <p:sp>
        <p:nvSpPr>
          <p:cNvPr id="7" name="Text 3"/>
          <p:cNvSpPr/>
          <p:nvPr/>
        </p:nvSpPr>
        <p:spPr>
          <a:xfrm>
            <a:off x="1188720" y="5212080"/>
            <a:ext cx="2971800" cy="365760"/>
          </a:xfrm>
          <a:prstGeom prst="rect">
            <a:avLst/>
          </a:prstGeom>
          <a:noFill/>
        </p:spPr>
        <p:txBody>
          <a:bodyPr wrap="square" lIns="0" tIns="0" rIns="0" bIns="0" rtlCol="0" anchor="ctr"/>
          <a:lstStyle/>
          <a:p>
            <a:pPr marL="0" indent="0">
              <a:buNone/>
            </a:pPr>
            <a:r>
              <a:rPr lang="en-US" sz="1500" b="1" dirty="0">
                <a:solidFill>
                  <a:srgbClr val="2C8A5F"/>
                </a:solidFill>
                <a:latin typeface="Calibri" panose="020F0502020204030204" pitchFamily="34" charset="0"/>
                <a:ea typeface="Calibri" panose="020F0502020204030204" pitchFamily="34" charset="-122"/>
                <a:cs typeface="Calibri" panose="020F0502020204030204" pitchFamily="34" charset="-120"/>
              </a:rPr>
              <a:t>Plaintext</a:t>
            </a:r>
            <a:endParaRPr lang="en-US" sz="1500" dirty="0"/>
          </a:p>
        </p:txBody>
      </p:sp>
      <p:sp>
        <p:nvSpPr>
          <p:cNvPr id="8" name="Text 4"/>
          <p:cNvSpPr/>
          <p:nvPr/>
        </p:nvSpPr>
        <p:spPr>
          <a:xfrm>
            <a:off x="731520" y="5669280"/>
            <a:ext cx="3291840" cy="777240"/>
          </a:xfrm>
          <a:prstGeom prst="rect">
            <a:avLst/>
          </a:prstGeom>
          <a:noFill/>
        </p:spPr>
        <p:txBody>
          <a:bodyPr wrap="square" lIns="0" tIns="0" rIns="0" bIns="0" rtlCol="0" anchor="ctr"/>
          <a:lstStyle/>
          <a:p>
            <a:pPr marL="0" indent="0">
              <a:buNone/>
            </a:pPr>
            <a:r>
              <a:rPr lang="en-US" altLang="en-US" sz="1100" dirty="0"/>
              <a:t>A 128x128 grayscale chessboard. Obvious repeating patterns and high contrast.</a:t>
            </a:r>
            <a:endParaRPr lang="en-US" altLang="en-US" sz="1100" dirty="0"/>
          </a:p>
        </p:txBody>
      </p:sp>
      <p:sp>
        <p:nvSpPr>
          <p:cNvPr id="9" name="Shape 5"/>
          <p:cNvSpPr/>
          <p:nvPr/>
        </p:nvSpPr>
        <p:spPr>
          <a:xfrm>
            <a:off x="4361688" y="5074920"/>
            <a:ext cx="3749040" cy="1417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pic>
        <p:nvPicPr>
          <p:cNvPr id="10" name="Image 2" descr="preencoded.png"/>
          <p:cNvPicPr>
            <a:picLocks noChangeAspect="1"/>
          </p:cNvPicPr>
          <p:nvPr/>
        </p:nvPicPr>
        <p:blipFill>
          <a:blip r:embed="rId2"/>
          <a:stretch>
            <a:fillRect/>
          </a:stretch>
        </p:blipFill>
        <p:spPr>
          <a:xfrm>
            <a:off x="4590288" y="5257800"/>
            <a:ext cx="347472" cy="347472"/>
          </a:xfrm>
          <a:prstGeom prst="rect">
            <a:avLst/>
          </a:prstGeom>
        </p:spPr>
      </p:pic>
      <p:sp>
        <p:nvSpPr>
          <p:cNvPr id="11" name="Text 6"/>
          <p:cNvSpPr/>
          <p:nvPr/>
        </p:nvSpPr>
        <p:spPr>
          <a:xfrm>
            <a:off x="5047488" y="5212080"/>
            <a:ext cx="2971800" cy="365760"/>
          </a:xfrm>
          <a:prstGeom prst="rect">
            <a:avLst/>
          </a:prstGeom>
          <a:noFill/>
        </p:spPr>
        <p:txBody>
          <a:bodyPr wrap="square" lIns="0" tIns="0" rIns="0" bIns="0" rtlCol="0" anchor="ctr"/>
          <a:lstStyle/>
          <a:p>
            <a:pPr marL="0" indent="0">
              <a:buNone/>
            </a:pPr>
            <a:r>
              <a:rPr lang="en-US" sz="1500" b="1" dirty="0">
                <a:solidFill>
                  <a:srgbClr val="F96167"/>
                </a:solidFill>
                <a:latin typeface="Calibri" panose="020F0502020204030204" pitchFamily="34" charset="0"/>
                <a:ea typeface="Calibri" panose="020F0502020204030204" pitchFamily="34" charset="-122"/>
                <a:cs typeface="Calibri" panose="020F0502020204030204" pitchFamily="34" charset="-120"/>
              </a:rPr>
              <a:t>Ciphertext</a:t>
            </a:r>
            <a:endParaRPr lang="en-US" sz="1500" dirty="0"/>
          </a:p>
        </p:txBody>
      </p:sp>
      <p:sp>
        <p:nvSpPr>
          <p:cNvPr id="12" name="Text 7"/>
          <p:cNvSpPr/>
          <p:nvPr/>
        </p:nvSpPr>
        <p:spPr>
          <a:xfrm>
            <a:off x="4590288" y="5669280"/>
            <a:ext cx="3291840" cy="777240"/>
          </a:xfrm>
          <a:prstGeom prst="rect">
            <a:avLst/>
          </a:prstGeom>
          <a:noFill/>
        </p:spPr>
        <p:txBody>
          <a:bodyPr wrap="square" lIns="0" tIns="0" rIns="0" bIns="0" rtlCol="0" anchor="ctr"/>
          <a:lstStyle/>
          <a:p>
            <a:pPr marL="0" indent="0">
              <a:buNone/>
            </a:pPr>
            <a:r>
              <a:rPr lang="en-US" altLang="en-US" sz="1100" dirty="0"/>
              <a:t>After S-AES/CFB, the high-contrast squares are destroyed. Each pixel depends on the one before it, creating a "snow" effect.</a:t>
            </a:r>
            <a:endParaRPr lang="en-US" altLang="en-US" sz="1100" dirty="0"/>
          </a:p>
        </p:txBody>
      </p:sp>
      <p:sp>
        <p:nvSpPr>
          <p:cNvPr id="13" name="Shape 8"/>
          <p:cNvSpPr/>
          <p:nvPr/>
        </p:nvSpPr>
        <p:spPr>
          <a:xfrm>
            <a:off x="8220456" y="5074920"/>
            <a:ext cx="3749040" cy="1417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pic>
        <p:nvPicPr>
          <p:cNvPr id="14" name="Image 3" descr="preencoded.png"/>
          <p:cNvPicPr>
            <a:picLocks noChangeAspect="1"/>
          </p:cNvPicPr>
          <p:nvPr/>
        </p:nvPicPr>
        <p:blipFill>
          <a:blip r:embed="rId1"/>
          <a:stretch>
            <a:fillRect/>
          </a:stretch>
        </p:blipFill>
        <p:spPr>
          <a:xfrm>
            <a:off x="8449056" y="5257800"/>
            <a:ext cx="347472" cy="347472"/>
          </a:xfrm>
          <a:prstGeom prst="rect">
            <a:avLst/>
          </a:prstGeom>
        </p:spPr>
      </p:pic>
      <p:sp>
        <p:nvSpPr>
          <p:cNvPr id="15" name="Text 9"/>
          <p:cNvSpPr/>
          <p:nvPr/>
        </p:nvSpPr>
        <p:spPr>
          <a:xfrm>
            <a:off x="8906256" y="5212080"/>
            <a:ext cx="2971800" cy="365760"/>
          </a:xfrm>
          <a:prstGeom prst="rect">
            <a:avLst/>
          </a:prstGeom>
          <a:noFill/>
        </p:spPr>
        <p:txBody>
          <a:bodyPr wrap="square" lIns="0" tIns="0" rIns="0" bIns="0" rtlCol="0" anchor="ctr"/>
          <a:lstStyle/>
          <a:p>
            <a:pPr marL="0" indent="0">
              <a:buNone/>
            </a:pPr>
            <a:r>
              <a:rPr lang="en-US" sz="1500" b="1" dirty="0">
                <a:solidFill>
                  <a:srgbClr val="2C8A5F"/>
                </a:solidFill>
                <a:latin typeface="Calibri" panose="020F0502020204030204" pitchFamily="34" charset="0"/>
                <a:ea typeface="Calibri" panose="020F0502020204030204" pitchFamily="34" charset="-122"/>
                <a:cs typeface="Calibri" panose="020F0502020204030204" pitchFamily="34" charset="-120"/>
              </a:rPr>
              <a:t>Decrypted</a:t>
            </a:r>
            <a:endParaRPr lang="en-US" sz="1500" dirty="0"/>
          </a:p>
        </p:txBody>
      </p:sp>
      <p:sp>
        <p:nvSpPr>
          <p:cNvPr id="16" name="Text 10"/>
          <p:cNvSpPr/>
          <p:nvPr/>
        </p:nvSpPr>
        <p:spPr>
          <a:xfrm>
            <a:off x="8449056" y="5669280"/>
            <a:ext cx="3291840" cy="777240"/>
          </a:xfrm>
          <a:prstGeom prst="rect">
            <a:avLst/>
          </a:prstGeom>
          <a:noFill/>
        </p:spPr>
        <p:txBody>
          <a:bodyPr wrap="square" lIns="0" tIns="0" rIns="0" bIns="0" rtlCol="0" anchor="ctr"/>
          <a:lstStyle/>
          <a:p>
            <a:pPr marL="0" indent="0">
              <a:buNone/>
            </a:pPr>
            <a:r>
              <a:rPr lang="en-US" altLang="en-US" sz="1100" dirty="0"/>
              <a:t>Using the same key and IV, the keystream is perfectly reproduced and XORed to restore the chessboard.</a:t>
            </a:r>
            <a:endParaRPr lang="en-US" altLang="en-US" sz="1100" dirty="0"/>
          </a:p>
        </p:txBody>
      </p:sp>
      <p:sp>
        <p:nvSpPr>
          <p:cNvPr id="17" name="Text 11"/>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18" name="Text 12"/>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6 / 12</a:t>
            </a:r>
            <a:endParaRPr lang="en-US" sz="1000" dirty="0"/>
          </a:p>
        </p:txBody>
      </p:sp>
      <p:pic>
        <p:nvPicPr>
          <p:cNvPr id="20" name="Picture 19" descr="Screenshot 2026-04-24 223950"/>
          <p:cNvPicPr>
            <a:picLocks noChangeAspect="1"/>
          </p:cNvPicPr>
          <p:nvPr/>
        </p:nvPicPr>
        <p:blipFill>
          <a:blip r:embed="rId3"/>
          <a:stretch>
            <a:fillRect/>
          </a:stretch>
        </p:blipFill>
        <p:spPr>
          <a:xfrm>
            <a:off x="1188720" y="1566545"/>
            <a:ext cx="10126345" cy="3130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Implementation in Python</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sym typeface="+mn-ea"/>
              </a:rPr>
              <a:t>Core CFB encrypt/decrypt functions from saes_cbf.py</a:t>
            </a:r>
            <a:endParaRPr lang="en-US" sz="1400" dirty="0"/>
          </a:p>
        </p:txBody>
      </p:sp>
      <p:sp>
        <p:nvSpPr>
          <p:cNvPr id="4" name="Shape 2"/>
          <p:cNvSpPr/>
          <p:nvPr/>
        </p:nvSpPr>
        <p:spPr>
          <a:xfrm>
            <a:off x="457200" y="1371600"/>
            <a:ext cx="7772400" cy="4846320"/>
          </a:xfrm>
          <a:prstGeom prst="rect">
            <a:avLst/>
          </a:prstGeom>
          <a:solidFill>
            <a:srgbClr val="0F1729"/>
          </a:solidFill>
          <a:ln w="12700">
            <a:solidFill>
              <a:srgbClr val="0F1729"/>
            </a:solidFill>
            <a:prstDash val="solid"/>
          </a:ln>
        </p:spPr>
      </p:sp>
      <p:sp>
        <p:nvSpPr>
          <p:cNvPr id="5" name="Shape 3"/>
          <p:cNvSpPr/>
          <p:nvPr/>
        </p:nvSpPr>
        <p:spPr>
          <a:xfrm>
            <a:off x="457200" y="1371600"/>
            <a:ext cx="7772400" cy="365760"/>
          </a:xfrm>
          <a:prstGeom prst="rect">
            <a:avLst/>
          </a:prstGeom>
          <a:solidFill>
            <a:srgbClr val="1E2A44"/>
          </a:solidFill>
          <a:ln w="12700">
            <a:solidFill>
              <a:srgbClr val="1E2A44"/>
            </a:solidFill>
            <a:prstDash val="solid"/>
          </a:ln>
        </p:spPr>
      </p:sp>
      <p:sp>
        <p:nvSpPr>
          <p:cNvPr id="6" name="Text 4"/>
          <p:cNvSpPr/>
          <p:nvPr/>
        </p:nvSpPr>
        <p:spPr>
          <a:xfrm>
            <a:off x="594360" y="1371600"/>
            <a:ext cx="4572000" cy="365760"/>
          </a:xfrm>
          <a:prstGeom prst="rect">
            <a:avLst/>
          </a:prstGeom>
          <a:noFill/>
        </p:spPr>
        <p:txBody>
          <a:bodyPr wrap="square" lIns="0" tIns="0" rIns="0" bIns="0" rtlCol="0" anchor="ctr"/>
          <a:lstStyle/>
          <a:p>
            <a:pPr marL="0" indent="0">
              <a:buNone/>
            </a:pPr>
            <a:r>
              <a:rPr lang="en-US" sz="1100" dirty="0">
                <a:solidFill>
                  <a:srgbClr val="A0AEC0"/>
                </a:solidFill>
                <a:latin typeface="Consolas" panose="020B0609020204030204" pitchFamily="34" charset="0"/>
                <a:ea typeface="Consolas" panose="020B0609020204030204" pitchFamily="34" charset="-122"/>
                <a:cs typeface="Consolas" panose="020B0609020204030204" pitchFamily="34" charset="-120"/>
              </a:rPr>
              <a:t>saes_cbc.py</a:t>
            </a:r>
            <a:endParaRPr lang="en-US" sz="1100" dirty="0"/>
          </a:p>
        </p:txBody>
      </p:sp>
      <p:sp>
        <p:nvSpPr>
          <p:cNvPr id="7" name="Text 5"/>
          <p:cNvSpPr/>
          <p:nvPr/>
        </p:nvSpPr>
        <p:spPr>
          <a:xfrm>
            <a:off x="640080" y="1828800"/>
            <a:ext cx="7498080" cy="4297680"/>
          </a:xfrm>
          <a:prstGeom prst="rect">
            <a:avLst/>
          </a:prstGeom>
          <a:noFill/>
        </p:spPr>
        <p:txBody>
          <a:bodyPr wrap="square" lIns="0" tIns="0" rIns="0" bIns="0" rtlCol="0" anchor="t"/>
          <a:lstStyle/>
          <a:p>
            <a:pPr marL="0" indent="0">
              <a:buNone/>
            </a:pPr>
            <a:r>
              <a:rPr lang="en-US" altLang="en-US" sz="1200" dirty="0">
                <a:solidFill>
                  <a:schemeClr val="bg1"/>
                </a:solidFill>
              </a:rPr>
              <a:t>def cfb_encrypt(plaintext, key, iv):</a:t>
            </a:r>
            <a:endParaRPr lang="en-US" altLang="en-US" sz="1200" dirty="0">
              <a:solidFill>
                <a:schemeClr val="bg1"/>
              </a:solidFill>
            </a:endParaRPr>
          </a:p>
          <a:p>
            <a:pPr marL="0" indent="0">
              <a:buNone/>
            </a:pPr>
            <a:r>
              <a:rPr lang="en-US" altLang="en-US" sz="1200" dirty="0">
                <a:solidFill>
                  <a:schemeClr val="bg1"/>
                </a:solidFill>
              </a:rPr>
              <a:t>    output = bytearray()</a:t>
            </a:r>
            <a:endParaRPr lang="en-US" altLang="en-US" sz="1200" dirty="0">
              <a:solidFill>
                <a:schemeClr val="bg1"/>
              </a:solidFill>
            </a:endParaRPr>
          </a:p>
          <a:p>
            <a:pPr marL="0" indent="0">
              <a:buNone/>
            </a:pPr>
            <a:r>
              <a:rPr lang="en-US" altLang="en-US" sz="1200" dirty="0">
                <a:solidFill>
                  <a:schemeClr val="bg1"/>
                </a:solidFill>
              </a:rPr>
              <a:t>    prev_cipher_block = iv</a:t>
            </a:r>
            <a:endParaRPr lang="en-US" altLang="en-US" sz="1200" dirty="0">
              <a:solidFill>
                <a:schemeClr val="bg1"/>
              </a:solidFill>
            </a:endParaRPr>
          </a:p>
          <a:p>
            <a:pPr marL="0" indent="0">
              <a:buNone/>
            </a:pPr>
            <a:r>
              <a:rPr lang="en-US" altLang="en-US" sz="1200" dirty="0">
                <a:solidFill>
                  <a:schemeClr val="bg1"/>
                </a:solidFill>
              </a:rPr>
              <a:t>    for i in range(0, len(plaintext), 2):</a:t>
            </a:r>
            <a:endParaRPr lang="en-US" altLang="en-US" sz="1200" dirty="0">
              <a:solidFill>
                <a:schemeClr val="bg1"/>
              </a:solidFill>
            </a:endParaRPr>
          </a:p>
          <a:p>
            <a:pPr marL="0" indent="0">
              <a:buNone/>
            </a:pPr>
            <a:r>
              <a:rPr lang="en-US" altLang="en-US" sz="1200" dirty="0">
                <a:solidFill>
                  <a:schemeClr val="bg1"/>
                </a:solidFill>
              </a:rPr>
              <a:t>        p_block = (plaintext[i] &lt;&lt; 8) | plaintext[i+1]</a:t>
            </a:r>
            <a:endParaRPr lang="en-US" altLang="en-US" sz="1200" dirty="0">
              <a:solidFill>
                <a:schemeClr val="bg1"/>
              </a:solidFill>
            </a:endParaRPr>
          </a:p>
          <a:p>
            <a:pPr marL="0" indent="0">
              <a:buNone/>
            </a:pPr>
            <a:r>
              <a:rPr lang="en-US" altLang="en-US" sz="1200" dirty="0">
                <a:solidFill>
                  <a:schemeClr val="bg1"/>
                </a:solidFill>
              </a:rPr>
              <a:t>        # CFB Logic: XOR Plaintext with Encrypted Previous Ciphertext</a:t>
            </a:r>
            <a:endParaRPr lang="en-US" altLang="en-US" sz="1200" dirty="0">
              <a:solidFill>
                <a:schemeClr val="bg1"/>
              </a:solidFill>
            </a:endParaRPr>
          </a:p>
          <a:p>
            <a:pPr marL="0" indent="0">
              <a:buNone/>
            </a:pPr>
            <a:r>
              <a:rPr lang="en-US" altLang="en-US" sz="1200" dirty="0">
                <a:solidFill>
                  <a:schemeClr val="bg1"/>
                </a:solidFill>
              </a:rPr>
              <a:t>        keystream = encrypt_block(prev_cipher_block, key)</a:t>
            </a:r>
            <a:endParaRPr lang="en-US" altLang="en-US" sz="1200" dirty="0">
              <a:solidFill>
                <a:schemeClr val="bg1"/>
              </a:solidFill>
            </a:endParaRPr>
          </a:p>
          <a:p>
            <a:pPr marL="0" indent="0">
              <a:buNone/>
            </a:pPr>
            <a:r>
              <a:rPr lang="en-US" altLang="en-US" sz="1200" dirty="0">
                <a:solidFill>
                  <a:schemeClr val="bg1"/>
                </a:solidFill>
              </a:rPr>
              <a:t>        c_block = p_block ^ keystream</a:t>
            </a:r>
            <a:endParaRPr lang="en-US" altLang="en-US" sz="1200" dirty="0">
              <a:solidFill>
                <a:schemeClr val="bg1"/>
              </a:solidFill>
            </a:endParaRPr>
          </a:p>
          <a:p>
            <a:pPr marL="0" indent="0">
              <a:buNone/>
            </a:pPr>
            <a:r>
              <a:rPr lang="en-US" altLang="en-US" sz="1200" dirty="0">
                <a:solidFill>
                  <a:schemeClr val="bg1"/>
                </a:solidFill>
              </a:rPr>
              <a:t>        output.extend([(c_block &gt;&gt; 8) &amp; 0xFF, c_block &amp; 0xFF])</a:t>
            </a:r>
            <a:endParaRPr lang="en-US" altLang="en-US" sz="1200" dirty="0">
              <a:solidFill>
                <a:schemeClr val="bg1"/>
              </a:solidFill>
            </a:endParaRPr>
          </a:p>
          <a:p>
            <a:pPr marL="0" indent="0">
              <a:buNone/>
            </a:pPr>
            <a:r>
              <a:rPr lang="en-US" altLang="en-US" sz="1200" dirty="0">
                <a:solidFill>
                  <a:schemeClr val="bg1"/>
                </a:solidFill>
              </a:rPr>
              <a:t>        prev_cipher_block = c_block</a:t>
            </a:r>
            <a:endParaRPr lang="en-US" altLang="en-US" sz="1200" dirty="0">
              <a:solidFill>
                <a:schemeClr val="bg1"/>
              </a:solidFill>
            </a:endParaRPr>
          </a:p>
          <a:p>
            <a:pPr marL="0" indent="0">
              <a:buNone/>
            </a:pPr>
            <a:r>
              <a:rPr lang="en-US" altLang="en-US" sz="1200" dirty="0">
                <a:solidFill>
                  <a:schemeClr val="bg1"/>
                </a:solidFill>
              </a:rPr>
              <a:t>    return bytes(output)</a:t>
            </a:r>
            <a:endParaRPr lang="en-US" altLang="en-US" sz="1200" dirty="0">
              <a:solidFill>
                <a:schemeClr val="bg1"/>
              </a:solidFill>
            </a:endParaRPr>
          </a:p>
          <a:p>
            <a:pPr marL="0" indent="0">
              <a:buNone/>
            </a:pPr>
            <a:endParaRPr lang="en-US" altLang="en-US" sz="1200" dirty="0">
              <a:solidFill>
                <a:schemeClr val="bg1"/>
              </a:solidFill>
            </a:endParaRPr>
          </a:p>
          <a:p>
            <a:pPr marL="0" indent="0">
              <a:buNone/>
            </a:pPr>
            <a:r>
              <a:rPr lang="en-US" altLang="en-US" sz="1200" dirty="0">
                <a:solidFill>
                  <a:schemeClr val="bg1"/>
                </a:solidFill>
              </a:rPr>
              <a:t>def cfb_decrypt(ciphertext, key, iv):</a:t>
            </a:r>
            <a:endParaRPr lang="en-US" altLang="en-US" sz="1200" dirty="0">
              <a:solidFill>
                <a:schemeClr val="bg1"/>
              </a:solidFill>
            </a:endParaRPr>
          </a:p>
          <a:p>
            <a:pPr marL="0" indent="0">
              <a:buNone/>
            </a:pPr>
            <a:r>
              <a:rPr lang="en-US" altLang="en-US" sz="1200" dirty="0">
                <a:solidFill>
                  <a:schemeClr val="bg1"/>
                </a:solidFill>
              </a:rPr>
              <a:t>    output = bytearray()</a:t>
            </a:r>
            <a:endParaRPr lang="en-US" altLang="en-US" sz="1200" dirty="0">
              <a:solidFill>
                <a:schemeClr val="bg1"/>
              </a:solidFill>
            </a:endParaRPr>
          </a:p>
          <a:p>
            <a:pPr marL="0" indent="0">
              <a:buNone/>
            </a:pPr>
            <a:r>
              <a:rPr lang="en-US" altLang="en-US" sz="1200" dirty="0">
                <a:solidFill>
                  <a:schemeClr val="bg1"/>
                </a:solidFill>
              </a:rPr>
              <a:t>    prev_cipher_block = iv</a:t>
            </a:r>
            <a:endParaRPr lang="en-US" altLang="en-US" sz="1200" dirty="0">
              <a:solidFill>
                <a:schemeClr val="bg1"/>
              </a:solidFill>
            </a:endParaRPr>
          </a:p>
          <a:p>
            <a:pPr marL="0" indent="0">
              <a:buNone/>
            </a:pPr>
            <a:r>
              <a:rPr lang="en-US" altLang="en-US" sz="1200" dirty="0">
                <a:solidFill>
                  <a:schemeClr val="bg1"/>
                </a:solidFill>
              </a:rPr>
              <a:t>    for i in range(0, len(ciphertext), 2):</a:t>
            </a:r>
            <a:endParaRPr lang="en-US" altLang="en-US" sz="1200" dirty="0">
              <a:solidFill>
                <a:schemeClr val="bg1"/>
              </a:solidFill>
            </a:endParaRPr>
          </a:p>
          <a:p>
            <a:pPr marL="0" indent="0">
              <a:buNone/>
            </a:pPr>
            <a:r>
              <a:rPr lang="en-US" altLang="en-US" sz="1200" dirty="0">
                <a:solidFill>
                  <a:schemeClr val="bg1"/>
                </a:solidFill>
              </a:rPr>
              <a:t>        c_block = (ciphertext[i] &lt;&lt; 8) | ciphertext[i+1]</a:t>
            </a:r>
            <a:endParaRPr lang="en-US" altLang="en-US" sz="1200" dirty="0">
              <a:solidFill>
                <a:schemeClr val="bg1"/>
              </a:solidFill>
            </a:endParaRPr>
          </a:p>
          <a:p>
            <a:pPr marL="0" indent="0">
              <a:buNone/>
            </a:pPr>
            <a:r>
              <a:rPr lang="en-US" altLang="en-US" sz="1200" dirty="0">
                <a:solidFill>
                  <a:schemeClr val="bg1"/>
                </a:solidFill>
              </a:rPr>
              <a:t>        # DECRYPTION ALSO USES encrypt_block</a:t>
            </a:r>
            <a:endParaRPr lang="en-US" altLang="en-US" sz="1200" dirty="0">
              <a:solidFill>
                <a:schemeClr val="bg1"/>
              </a:solidFill>
            </a:endParaRPr>
          </a:p>
          <a:p>
            <a:pPr marL="0" indent="0">
              <a:buNone/>
            </a:pPr>
            <a:r>
              <a:rPr lang="en-US" altLang="en-US" sz="1200" dirty="0">
                <a:solidFill>
                  <a:schemeClr val="bg1"/>
                </a:solidFill>
              </a:rPr>
              <a:t>        keystream = encrypt_block(prev_cipher_block, key)</a:t>
            </a:r>
            <a:endParaRPr lang="en-US" altLang="en-US" sz="1200" dirty="0">
              <a:solidFill>
                <a:schemeClr val="bg1"/>
              </a:solidFill>
            </a:endParaRPr>
          </a:p>
          <a:p>
            <a:pPr marL="0" indent="0">
              <a:buNone/>
            </a:pPr>
            <a:r>
              <a:rPr lang="en-US" altLang="en-US" sz="1200" dirty="0">
                <a:solidFill>
                  <a:schemeClr val="bg1"/>
                </a:solidFill>
              </a:rPr>
              <a:t>        p_block = c_block ^ keystream</a:t>
            </a:r>
            <a:endParaRPr lang="en-US" altLang="en-US" sz="1200" dirty="0">
              <a:solidFill>
                <a:schemeClr val="bg1"/>
              </a:solidFill>
            </a:endParaRPr>
          </a:p>
          <a:p>
            <a:pPr marL="0" indent="0">
              <a:buNone/>
            </a:pPr>
            <a:r>
              <a:rPr lang="en-US" altLang="en-US" sz="1200" dirty="0">
                <a:solidFill>
                  <a:schemeClr val="bg1"/>
                </a:solidFill>
              </a:rPr>
              <a:t>        output.extend([(p_block &gt;&gt; 8) &amp; 0xFF, p_block &amp; 0xFF])</a:t>
            </a:r>
            <a:endParaRPr lang="en-US" altLang="en-US" sz="1200" dirty="0">
              <a:solidFill>
                <a:schemeClr val="bg1"/>
              </a:solidFill>
            </a:endParaRPr>
          </a:p>
          <a:p>
            <a:pPr marL="0" indent="0">
              <a:buNone/>
            </a:pPr>
            <a:r>
              <a:rPr lang="en-US" altLang="en-US" sz="1200" dirty="0">
                <a:solidFill>
                  <a:schemeClr val="bg1"/>
                </a:solidFill>
              </a:rPr>
              <a:t>        prev_cipher_block = c_block</a:t>
            </a:r>
            <a:endParaRPr lang="en-US" altLang="en-US" sz="1200" dirty="0">
              <a:solidFill>
                <a:schemeClr val="bg1"/>
              </a:solidFill>
            </a:endParaRPr>
          </a:p>
          <a:p>
            <a:pPr marL="0" indent="0">
              <a:buNone/>
            </a:pPr>
            <a:r>
              <a:rPr lang="en-US" altLang="en-US" sz="1200" dirty="0">
                <a:solidFill>
                  <a:schemeClr val="bg1"/>
                </a:solidFill>
              </a:rPr>
              <a:t>    return bytes(output)</a:t>
            </a:r>
            <a:endParaRPr lang="en-US" altLang="en-US" sz="1200" dirty="0">
              <a:solidFill>
                <a:schemeClr val="bg1"/>
              </a:solidFill>
            </a:endParaRPr>
          </a:p>
        </p:txBody>
      </p:sp>
      <p:sp>
        <p:nvSpPr>
          <p:cNvPr id="8" name="Shape 6"/>
          <p:cNvSpPr/>
          <p:nvPr/>
        </p:nvSpPr>
        <p:spPr>
          <a:xfrm>
            <a:off x="8412480" y="1371600"/>
            <a:ext cx="3337560" cy="4846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9" name="Shape 7"/>
          <p:cNvSpPr/>
          <p:nvPr/>
        </p:nvSpPr>
        <p:spPr>
          <a:xfrm>
            <a:off x="8412480" y="1371600"/>
            <a:ext cx="3337560" cy="457200"/>
          </a:xfrm>
          <a:prstGeom prst="rect">
            <a:avLst/>
          </a:prstGeom>
          <a:solidFill>
            <a:srgbClr val="065A82"/>
          </a:solidFill>
          <a:ln w="12700">
            <a:solidFill>
              <a:srgbClr val="065A82"/>
            </a:solidFill>
            <a:prstDash val="solid"/>
          </a:ln>
        </p:spPr>
      </p:sp>
      <p:sp>
        <p:nvSpPr>
          <p:cNvPr id="10" name="Text 8"/>
          <p:cNvSpPr/>
          <p:nvPr/>
        </p:nvSpPr>
        <p:spPr>
          <a:xfrm>
            <a:off x="8412480" y="1371600"/>
            <a:ext cx="33375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Implementation features</a:t>
            </a:r>
            <a:endParaRPr lang="en-US" sz="1300" dirty="0"/>
          </a:p>
        </p:txBody>
      </p:sp>
      <p:pic>
        <p:nvPicPr>
          <p:cNvPr id="11" name="Image 0" descr="preencoded.png"/>
          <p:cNvPicPr>
            <a:picLocks noChangeAspect="1"/>
          </p:cNvPicPr>
          <p:nvPr/>
        </p:nvPicPr>
        <p:blipFill>
          <a:blip r:embed="rId1"/>
          <a:stretch>
            <a:fillRect/>
          </a:stretch>
        </p:blipFill>
        <p:spPr>
          <a:xfrm>
            <a:off x="8549640" y="2057400"/>
            <a:ext cx="274320" cy="274320"/>
          </a:xfrm>
          <a:prstGeom prst="rect">
            <a:avLst/>
          </a:prstGeom>
        </p:spPr>
      </p:pic>
      <p:sp>
        <p:nvSpPr>
          <p:cNvPr id="12" name="Text 9"/>
          <p:cNvSpPr/>
          <p:nvPr/>
        </p:nvSpPr>
        <p:spPr>
          <a:xfrm>
            <a:off x="8915400" y="1993392"/>
            <a:ext cx="2743200" cy="457200"/>
          </a:xfrm>
          <a:prstGeom prst="rect">
            <a:avLst/>
          </a:prstGeom>
          <a:noFill/>
        </p:spPr>
        <p:txBody>
          <a:bodyPr wrap="square" lIns="0" tIns="0" rIns="0" bIns="0" rtlCol="0" anchor="t"/>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Pure Python, no external crypto libraries</a:t>
            </a:r>
            <a:endParaRPr lang="en-US" sz="1200" dirty="0"/>
          </a:p>
        </p:txBody>
      </p:sp>
      <p:pic>
        <p:nvPicPr>
          <p:cNvPr id="13" name="Image 1" descr="preencoded.png"/>
          <p:cNvPicPr>
            <a:picLocks noChangeAspect="1"/>
          </p:cNvPicPr>
          <p:nvPr/>
        </p:nvPicPr>
        <p:blipFill>
          <a:blip r:embed="rId1"/>
          <a:stretch>
            <a:fillRect/>
          </a:stretch>
        </p:blipFill>
        <p:spPr>
          <a:xfrm>
            <a:off x="8549640" y="2834640"/>
            <a:ext cx="274320" cy="274320"/>
          </a:xfrm>
          <a:prstGeom prst="rect">
            <a:avLst/>
          </a:prstGeom>
        </p:spPr>
      </p:pic>
      <p:sp>
        <p:nvSpPr>
          <p:cNvPr id="14" name="Text 10"/>
          <p:cNvSpPr/>
          <p:nvPr/>
        </p:nvSpPr>
        <p:spPr>
          <a:xfrm>
            <a:off x="8915400" y="2770632"/>
            <a:ext cx="2743200" cy="457200"/>
          </a:xfrm>
          <a:prstGeom prst="rect">
            <a:avLst/>
          </a:prstGeom>
          <a:noFill/>
        </p:spPr>
        <p:txBody>
          <a:bodyPr wrap="square" lIns="0" tIns="0" rIns="0" bIns="0" rtlCol="0" anchor="t"/>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PKCS#7 padding to handle any file length</a:t>
            </a:r>
            <a:endParaRPr lang="en-US" sz="1200" dirty="0"/>
          </a:p>
        </p:txBody>
      </p:sp>
      <p:pic>
        <p:nvPicPr>
          <p:cNvPr id="15" name="Image 2" descr="preencoded.png"/>
          <p:cNvPicPr>
            <a:picLocks noChangeAspect="1"/>
          </p:cNvPicPr>
          <p:nvPr/>
        </p:nvPicPr>
        <p:blipFill>
          <a:blip r:embed="rId1"/>
          <a:stretch>
            <a:fillRect/>
          </a:stretch>
        </p:blipFill>
        <p:spPr>
          <a:xfrm>
            <a:off x="8549640" y="3611880"/>
            <a:ext cx="274320" cy="274320"/>
          </a:xfrm>
          <a:prstGeom prst="rect">
            <a:avLst/>
          </a:prstGeom>
        </p:spPr>
      </p:pic>
      <p:sp>
        <p:nvSpPr>
          <p:cNvPr id="16" name="Text 11"/>
          <p:cNvSpPr/>
          <p:nvPr/>
        </p:nvSpPr>
        <p:spPr>
          <a:xfrm>
            <a:off x="8915400" y="3547872"/>
            <a:ext cx="2743200" cy="457200"/>
          </a:xfrm>
          <a:prstGeom prst="rect">
            <a:avLst/>
          </a:prstGeom>
          <a:noFill/>
        </p:spPr>
        <p:txBody>
          <a:bodyPr wrap="square" lIns="0" tIns="0" rIns="0" bIns="0" rtlCol="0" anchor="t"/>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Works on text, images and binary files</a:t>
            </a:r>
            <a:endParaRPr lang="en-US" sz="1200" dirty="0"/>
          </a:p>
        </p:txBody>
      </p:sp>
      <p:pic>
        <p:nvPicPr>
          <p:cNvPr id="17" name="Image 3" descr="preencoded.png"/>
          <p:cNvPicPr>
            <a:picLocks noChangeAspect="1"/>
          </p:cNvPicPr>
          <p:nvPr/>
        </p:nvPicPr>
        <p:blipFill>
          <a:blip r:embed="rId1"/>
          <a:stretch>
            <a:fillRect/>
          </a:stretch>
        </p:blipFill>
        <p:spPr>
          <a:xfrm>
            <a:off x="8549640" y="4389120"/>
            <a:ext cx="274320" cy="274320"/>
          </a:xfrm>
          <a:prstGeom prst="rect">
            <a:avLst/>
          </a:prstGeom>
        </p:spPr>
      </p:pic>
      <p:sp>
        <p:nvSpPr>
          <p:cNvPr id="18" name="Text 12"/>
          <p:cNvSpPr/>
          <p:nvPr/>
        </p:nvSpPr>
        <p:spPr>
          <a:xfrm>
            <a:off x="8915400" y="4325112"/>
            <a:ext cx="2743200" cy="457200"/>
          </a:xfrm>
          <a:prstGeom prst="rect">
            <a:avLst/>
          </a:prstGeom>
          <a:noFill/>
        </p:spPr>
        <p:txBody>
          <a:bodyPr wrap="square" lIns="0" tIns="0" rIns="0" bIns="0" rtlCol="0" anchor="t"/>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Command-line interface for encrypt/decrypt</a:t>
            </a:r>
            <a:endParaRPr lang="en-US" sz="1200" dirty="0"/>
          </a:p>
        </p:txBody>
      </p:sp>
      <p:pic>
        <p:nvPicPr>
          <p:cNvPr id="19" name="Image 4" descr="preencoded.png"/>
          <p:cNvPicPr>
            <a:picLocks noChangeAspect="1"/>
          </p:cNvPicPr>
          <p:nvPr/>
        </p:nvPicPr>
        <p:blipFill>
          <a:blip r:embed="rId1"/>
          <a:stretch>
            <a:fillRect/>
          </a:stretch>
        </p:blipFill>
        <p:spPr>
          <a:xfrm>
            <a:off x="8549640" y="5166360"/>
            <a:ext cx="274320" cy="274320"/>
          </a:xfrm>
          <a:prstGeom prst="rect">
            <a:avLst/>
          </a:prstGeom>
        </p:spPr>
      </p:pic>
      <p:sp>
        <p:nvSpPr>
          <p:cNvPr id="20" name="Text 13"/>
          <p:cNvSpPr/>
          <p:nvPr/>
        </p:nvSpPr>
        <p:spPr>
          <a:xfrm>
            <a:off x="8915400" y="5102352"/>
            <a:ext cx="2743200" cy="457200"/>
          </a:xfrm>
          <a:prstGeom prst="rect">
            <a:avLst/>
          </a:prstGeom>
          <a:noFill/>
        </p:spPr>
        <p:txBody>
          <a:bodyPr wrap="square" lIns="0" tIns="0" rIns="0" bIns="0" rtlCol="0" anchor="t"/>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Bit-exact with the Stallings textbook example</a:t>
            </a:r>
            <a:endParaRPr lang="en-US" sz="1200" dirty="0"/>
          </a:p>
        </p:txBody>
      </p:sp>
      <p:sp>
        <p:nvSpPr>
          <p:cNvPr id="21" name="Text 14"/>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22" name="Text 15"/>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End-to-End Demo Output</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altLang="en-US" sz="1400" dirty="0"/>
              <a:t>Actual terminal output from running saes_cfb.py demo</a:t>
            </a:r>
            <a:endParaRPr lang="en-US" altLang="en-US" sz="1400" dirty="0"/>
          </a:p>
        </p:txBody>
      </p:sp>
      <p:sp>
        <p:nvSpPr>
          <p:cNvPr id="4" name="Shape 2"/>
          <p:cNvSpPr/>
          <p:nvPr/>
        </p:nvSpPr>
        <p:spPr>
          <a:xfrm>
            <a:off x="502920" y="1371600"/>
            <a:ext cx="11201400" cy="4892040"/>
          </a:xfrm>
          <a:prstGeom prst="rect">
            <a:avLst/>
          </a:prstGeom>
          <a:solidFill>
            <a:srgbClr val="0F1729"/>
          </a:solidFill>
          <a:ln w="12700">
            <a:solidFill>
              <a:srgbClr val="0F1729"/>
            </a:solidFill>
            <a:prstDash val="solid"/>
          </a:ln>
        </p:spPr>
      </p:sp>
      <p:sp>
        <p:nvSpPr>
          <p:cNvPr id="5" name="Shape 3"/>
          <p:cNvSpPr/>
          <p:nvPr/>
        </p:nvSpPr>
        <p:spPr>
          <a:xfrm>
            <a:off x="502920" y="1371600"/>
            <a:ext cx="11201400" cy="365760"/>
          </a:xfrm>
          <a:prstGeom prst="rect">
            <a:avLst/>
          </a:prstGeom>
          <a:solidFill>
            <a:srgbClr val="1E2A44"/>
          </a:solidFill>
          <a:ln w="12700">
            <a:solidFill>
              <a:srgbClr val="1E2A44"/>
            </a:solidFill>
            <a:prstDash val="solid"/>
          </a:ln>
        </p:spPr>
      </p:sp>
      <p:sp>
        <p:nvSpPr>
          <p:cNvPr id="9" name="Text 7"/>
          <p:cNvSpPr/>
          <p:nvPr/>
        </p:nvSpPr>
        <p:spPr>
          <a:xfrm>
            <a:off x="3657600" y="1371600"/>
            <a:ext cx="5486400" cy="365760"/>
          </a:xfrm>
          <a:prstGeom prst="rect">
            <a:avLst/>
          </a:prstGeom>
          <a:noFill/>
        </p:spPr>
        <p:txBody>
          <a:bodyPr wrap="square" lIns="0" tIns="0" rIns="0" bIns="0" rtlCol="0" anchor="ctr"/>
          <a:lstStyle/>
          <a:p>
            <a:pPr marL="0" indent="0" algn="ctr">
              <a:buNone/>
            </a:pPr>
            <a:r>
              <a:rPr lang="en-US" altLang="en-US" sz="1100" dirty="0">
                <a:solidFill>
                  <a:schemeClr val="bg1"/>
                </a:solidFill>
              </a:rPr>
              <a:t>$ python saes_cfb.py demo</a:t>
            </a:r>
            <a:endParaRPr lang="en-US" altLang="en-US" sz="1100" dirty="0">
              <a:solidFill>
                <a:schemeClr val="bg1"/>
              </a:solidFill>
            </a:endParaRPr>
          </a:p>
        </p:txBody>
      </p:sp>
      <p:sp>
        <p:nvSpPr>
          <p:cNvPr id="10" name="Text 8"/>
          <p:cNvSpPr/>
          <p:nvPr/>
        </p:nvSpPr>
        <p:spPr>
          <a:xfrm>
            <a:off x="731520" y="1874520"/>
            <a:ext cx="10972800" cy="4297680"/>
          </a:xfrm>
          <a:prstGeom prst="rect">
            <a:avLst/>
          </a:prstGeom>
          <a:noFill/>
        </p:spPr>
        <p:txBody>
          <a:bodyPr wrap="square" lIns="0" tIns="0" rIns="0" bIns="0" rtlCol="0" anchor="t"/>
          <a:lstStyle/>
          <a:p>
            <a:pPr marL="0" indent="0">
              <a:spcAft>
                <a:spcPts val="200"/>
              </a:spcAft>
              <a:buNone/>
            </a:pPr>
            <a:r>
              <a:rPr lang="en-US" altLang="en-US" sz="1200" dirty="0">
                <a:solidFill>
                  <a:schemeClr val="bg1"/>
                </a:solidFill>
              </a:rPr>
              <a:t>======================================================================</a:t>
            </a:r>
            <a:endParaRPr lang="en-US" altLang="en-US" sz="1200" dirty="0">
              <a:solidFill>
                <a:schemeClr val="bg1"/>
              </a:solidFill>
            </a:endParaRPr>
          </a:p>
          <a:p>
            <a:pPr marL="0" indent="0">
              <a:spcAft>
                <a:spcPts val="200"/>
              </a:spcAft>
              <a:buNone/>
            </a:pPr>
            <a:r>
              <a:rPr lang="en-US" altLang="en-US" sz="1200" dirty="0">
                <a:solidFill>
                  <a:schemeClr val="bg1"/>
                </a:solidFill>
              </a:rPr>
              <a:t>  S-AES / CFB  -  Demonstration</a:t>
            </a:r>
            <a:endParaRPr lang="en-US" altLang="en-US" sz="1200" dirty="0">
              <a:solidFill>
                <a:schemeClr val="bg1"/>
              </a:solidFill>
            </a:endParaRPr>
          </a:p>
          <a:p>
            <a:pPr marL="0" indent="0">
              <a:spcAft>
                <a:spcPts val="200"/>
              </a:spcAft>
              <a:buNone/>
            </a:pPr>
            <a:r>
              <a:rPr lang="en-US" altLang="en-US" sz="1200" dirty="0">
                <a:solidFill>
                  <a:schemeClr val="bg1"/>
                </a:solidFill>
              </a:rPr>
              <a:t>======================================================================</a:t>
            </a:r>
            <a:endParaRPr lang="en-US" altLang="en-US" sz="1200" dirty="0">
              <a:solidFill>
                <a:schemeClr val="bg1"/>
              </a:solidFill>
            </a:endParaRPr>
          </a:p>
          <a:p>
            <a:pPr marL="0" indent="0">
              <a:spcAft>
                <a:spcPts val="200"/>
              </a:spcAft>
              <a:buNone/>
            </a:pPr>
            <a:endParaRPr lang="en-US" altLang="en-US" sz="1200" dirty="0">
              <a:solidFill>
                <a:schemeClr val="bg1"/>
              </a:solidFill>
            </a:endParaRPr>
          </a:p>
          <a:p>
            <a:pPr marL="0" indent="0">
              <a:spcAft>
                <a:spcPts val="200"/>
              </a:spcAft>
              <a:buNone/>
            </a:pPr>
            <a:r>
              <a:rPr lang="en-US" altLang="en-US" sz="1200" dirty="0">
                <a:solidFill>
                  <a:schemeClr val="bg1"/>
                </a:solidFill>
              </a:rPr>
              <a:t>Single-block test (Stallings)</a:t>
            </a:r>
            <a:endParaRPr lang="en-US" altLang="en-US" sz="1200" dirty="0">
              <a:solidFill>
                <a:schemeClr val="bg1"/>
              </a:solidFill>
            </a:endParaRPr>
          </a:p>
          <a:p>
            <a:pPr marL="0" indent="0">
              <a:spcAft>
                <a:spcPts val="200"/>
              </a:spcAft>
              <a:buNone/>
            </a:pPr>
            <a:r>
              <a:rPr lang="en-US" altLang="en-US" sz="1200" dirty="0">
                <a:solidFill>
                  <a:schemeClr val="bg1"/>
                </a:solidFill>
              </a:rPr>
              <a:t>  Plain   : 0xD728</a:t>
            </a:r>
            <a:endParaRPr lang="en-US" altLang="en-US" sz="1200" dirty="0">
              <a:solidFill>
                <a:schemeClr val="bg1"/>
              </a:solidFill>
            </a:endParaRPr>
          </a:p>
          <a:p>
            <a:pPr marL="0" indent="0">
              <a:spcAft>
                <a:spcPts val="200"/>
              </a:spcAft>
              <a:buNone/>
            </a:pPr>
            <a:r>
              <a:rPr lang="en-US" altLang="en-US" sz="1200" dirty="0">
                <a:solidFill>
                  <a:schemeClr val="bg1"/>
                </a:solidFill>
              </a:rPr>
              <a:t>  Key     : 0x4AF5</a:t>
            </a:r>
            <a:endParaRPr lang="en-US" altLang="en-US" sz="1200" dirty="0">
              <a:solidFill>
                <a:schemeClr val="bg1"/>
              </a:solidFill>
            </a:endParaRPr>
          </a:p>
          <a:p>
            <a:pPr marL="0" indent="0">
              <a:spcAft>
                <a:spcPts val="200"/>
              </a:spcAft>
              <a:buNone/>
            </a:pPr>
            <a:r>
              <a:rPr lang="en-US" altLang="en-US" sz="1200" dirty="0">
                <a:solidFill>
                  <a:schemeClr val="bg1"/>
                </a:solidFill>
              </a:rPr>
              <a:t>  Cipher  : 0x24EC  (OK)</a:t>
            </a:r>
            <a:endParaRPr lang="en-US" altLang="en-US" sz="1200" dirty="0">
              <a:solidFill>
                <a:schemeClr val="bg1"/>
              </a:solidFill>
            </a:endParaRPr>
          </a:p>
          <a:p>
            <a:pPr marL="0" indent="0">
              <a:spcAft>
                <a:spcPts val="200"/>
              </a:spcAft>
              <a:buNone/>
            </a:pPr>
            <a:endParaRPr lang="en-US" altLang="en-US" sz="1200" dirty="0">
              <a:solidFill>
                <a:schemeClr val="bg1"/>
              </a:solidFill>
            </a:endParaRPr>
          </a:p>
          <a:p>
            <a:pPr marL="0" indent="0">
              <a:spcAft>
                <a:spcPts val="200"/>
              </a:spcAft>
              <a:buNone/>
            </a:pPr>
            <a:r>
              <a:rPr lang="en-US" altLang="en-US" sz="1200" dirty="0">
                <a:solidFill>
                  <a:schemeClr val="bg1"/>
                </a:solidFill>
              </a:rPr>
              <a:t>CFB mode test</a:t>
            </a:r>
            <a:endParaRPr lang="en-US" altLang="en-US" sz="1200" dirty="0">
              <a:solidFill>
                <a:schemeClr val="bg1"/>
              </a:solidFill>
            </a:endParaRPr>
          </a:p>
          <a:p>
            <a:pPr marL="0" indent="0">
              <a:spcAft>
                <a:spcPts val="200"/>
              </a:spcAft>
              <a:buNone/>
            </a:pPr>
            <a:r>
              <a:rPr lang="en-US" altLang="en-US" sz="1200" dirty="0">
                <a:solidFill>
                  <a:schemeClr val="bg1"/>
                </a:solidFill>
              </a:rPr>
              <a:t>  Key       : 0xA73B</a:t>
            </a:r>
            <a:endParaRPr lang="en-US" altLang="en-US" sz="1200" dirty="0">
              <a:solidFill>
                <a:schemeClr val="bg1"/>
              </a:solidFill>
            </a:endParaRPr>
          </a:p>
          <a:p>
            <a:pPr marL="0" indent="0">
              <a:spcAft>
                <a:spcPts val="200"/>
              </a:spcAft>
              <a:buNone/>
            </a:pPr>
            <a:r>
              <a:rPr lang="en-US" altLang="en-US" sz="1200" dirty="0">
                <a:solidFill>
                  <a:schemeClr val="bg1"/>
                </a:solidFill>
              </a:rPr>
              <a:t>  IV        : 0x1234</a:t>
            </a:r>
            <a:endParaRPr lang="en-US" altLang="en-US" sz="1200" dirty="0">
              <a:solidFill>
                <a:schemeClr val="bg1"/>
              </a:solidFill>
            </a:endParaRPr>
          </a:p>
          <a:p>
            <a:pPr marL="0" indent="0">
              <a:spcAft>
                <a:spcPts val="200"/>
              </a:spcAft>
              <a:buNone/>
            </a:pPr>
            <a:r>
              <a:rPr lang="en-US" altLang="en-US" sz="1200" dirty="0">
                <a:solidFill>
                  <a:schemeClr val="bg1"/>
                </a:solidFill>
              </a:rPr>
              <a:t>  Result    : Decrypted Text Match: True</a:t>
            </a:r>
            <a:endParaRPr lang="en-US" altLang="en-US" sz="1200" dirty="0">
              <a:solidFill>
                <a:schemeClr val="bg1"/>
              </a:solidFill>
            </a:endParaRPr>
          </a:p>
          <a:p>
            <a:pPr marL="0" indent="0">
              <a:spcAft>
                <a:spcPts val="200"/>
              </a:spcAft>
              <a:buNone/>
            </a:pPr>
            <a:r>
              <a:rPr lang="en-US" altLang="en-US" sz="1200" dirty="0">
                <a:solidFill>
                  <a:schemeClr val="bg1"/>
                </a:solidFill>
              </a:rPr>
              <a:t>  Check     : Chessboard restored successfully.</a:t>
            </a:r>
            <a:endParaRPr lang="en-US" altLang="en-US" sz="1200" dirty="0">
              <a:solidFill>
                <a:schemeClr val="bg1"/>
              </a:solidFill>
            </a:endParaRPr>
          </a:p>
        </p:txBody>
      </p:sp>
      <p:sp>
        <p:nvSpPr>
          <p:cNvPr id="11" name="Text 9"/>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12" name="Text 10"/>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Cryptanalysis of S-AES</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Brute force is trivially feasible against a 16-bit key</a:t>
            </a:r>
            <a:endParaRPr lang="en-US" sz="1400" dirty="0"/>
          </a:p>
        </p:txBody>
      </p:sp>
      <p:sp>
        <p:nvSpPr>
          <p:cNvPr id="4" name="Shape 2"/>
          <p:cNvSpPr/>
          <p:nvPr/>
        </p:nvSpPr>
        <p:spPr>
          <a:xfrm>
            <a:off x="502920" y="1371600"/>
            <a:ext cx="4572000" cy="4846320"/>
          </a:xfrm>
          <a:prstGeom prst="rect">
            <a:avLst/>
          </a:prstGeom>
          <a:solidFill>
            <a:srgbClr val="21295C"/>
          </a:solidFill>
          <a:ln w="12700">
            <a:solidFill>
              <a:srgbClr val="21295C"/>
            </a:solidFill>
            <a:prstDash val="solid"/>
          </a:ln>
        </p:spPr>
      </p:sp>
      <p:sp>
        <p:nvSpPr>
          <p:cNvPr id="5" name="Shape 3"/>
          <p:cNvSpPr/>
          <p:nvPr/>
        </p:nvSpPr>
        <p:spPr>
          <a:xfrm>
            <a:off x="502920" y="1371600"/>
            <a:ext cx="109728" cy="4846320"/>
          </a:xfrm>
          <a:prstGeom prst="rect">
            <a:avLst/>
          </a:prstGeom>
          <a:solidFill>
            <a:srgbClr val="F96167"/>
          </a:solidFill>
          <a:ln w="12700">
            <a:solidFill>
              <a:srgbClr val="F96167"/>
            </a:solidFill>
            <a:prstDash val="solid"/>
          </a:ln>
        </p:spPr>
      </p:sp>
      <p:pic>
        <p:nvPicPr>
          <p:cNvPr id="6" name="Image 0" descr="preencoded.png"/>
          <p:cNvPicPr>
            <a:picLocks noChangeAspect="1"/>
          </p:cNvPicPr>
          <p:nvPr/>
        </p:nvPicPr>
        <p:blipFill>
          <a:blip r:embed="rId1"/>
          <a:stretch>
            <a:fillRect/>
          </a:stretch>
        </p:blipFill>
        <p:spPr>
          <a:xfrm>
            <a:off x="822960" y="1691640"/>
            <a:ext cx="731520" cy="731520"/>
          </a:xfrm>
          <a:prstGeom prst="rect">
            <a:avLst/>
          </a:prstGeom>
        </p:spPr>
      </p:pic>
      <p:sp>
        <p:nvSpPr>
          <p:cNvPr id="7" name="Text 4"/>
          <p:cNvSpPr/>
          <p:nvPr/>
        </p:nvSpPr>
        <p:spPr>
          <a:xfrm>
            <a:off x="777240" y="2560320"/>
            <a:ext cx="4114800" cy="1188720"/>
          </a:xfrm>
          <a:prstGeom prst="rect">
            <a:avLst/>
          </a:prstGeom>
          <a:noFill/>
        </p:spPr>
        <p:txBody>
          <a:bodyPr wrap="square" lIns="0" tIns="0" rIns="0" bIns="0" rtlCol="0" anchor="ctr"/>
          <a:lstStyle/>
          <a:p>
            <a:pPr marL="0" indent="0">
              <a:buNone/>
            </a:pPr>
            <a:r>
              <a:rPr lang="en-US" sz="9000" b="1" dirty="0">
                <a:solidFill>
                  <a:srgbClr val="FFFFFF"/>
                </a:solidFill>
                <a:latin typeface="Georgia" panose="02040502050405020303" pitchFamily="34" charset="0"/>
                <a:ea typeface="Georgia" panose="02040502050405020303" pitchFamily="34" charset="-122"/>
                <a:cs typeface="Georgia" panose="02040502050405020303" pitchFamily="34" charset="-120"/>
              </a:rPr>
              <a:t>2^16</a:t>
            </a:r>
            <a:endParaRPr lang="en-US" sz="9000" dirty="0"/>
          </a:p>
        </p:txBody>
      </p:sp>
      <p:sp>
        <p:nvSpPr>
          <p:cNvPr id="8" name="Text 5"/>
          <p:cNvSpPr/>
          <p:nvPr/>
        </p:nvSpPr>
        <p:spPr>
          <a:xfrm>
            <a:off x="777240" y="3749040"/>
            <a:ext cx="4114800" cy="457200"/>
          </a:xfrm>
          <a:prstGeom prst="rect">
            <a:avLst/>
          </a:prstGeom>
          <a:noFill/>
        </p:spPr>
        <p:txBody>
          <a:bodyPr wrap="square" lIns="0" tIns="0" rIns="0" bIns="0" rtlCol="0" anchor="ctr"/>
          <a:lstStyle/>
          <a:p>
            <a:pPr marL="0" indent="0">
              <a:buNone/>
            </a:pPr>
            <a:r>
              <a:rPr lang="en-US" sz="2200" dirty="0">
                <a:solidFill>
                  <a:srgbClr val="CADCFC"/>
                </a:solidFill>
                <a:latin typeface="Calibri" panose="020F0502020204030204" pitchFamily="34" charset="0"/>
                <a:ea typeface="Calibri" panose="020F0502020204030204" pitchFamily="34" charset="-122"/>
                <a:cs typeface="Calibri" panose="020F0502020204030204" pitchFamily="34" charset="-120"/>
              </a:rPr>
              <a:t>=  65,536 keys</a:t>
            </a:r>
            <a:endParaRPr lang="en-US" sz="2200" dirty="0"/>
          </a:p>
        </p:txBody>
      </p:sp>
      <p:sp>
        <p:nvSpPr>
          <p:cNvPr id="9" name="Text 6"/>
          <p:cNvSpPr/>
          <p:nvPr/>
        </p:nvSpPr>
        <p:spPr>
          <a:xfrm>
            <a:off x="777240" y="4343400"/>
            <a:ext cx="4114800" cy="1645920"/>
          </a:xfrm>
          <a:prstGeom prst="rect">
            <a:avLst/>
          </a:prstGeom>
          <a:noFill/>
        </p:spPr>
        <p:txBody>
          <a:bodyPr wrap="square" lIns="0" tIns="0" rIns="0" bIns="0" rtlCol="0" anchor="ctr"/>
          <a:lstStyle/>
          <a:p>
            <a:pPr marL="0" indent="0">
              <a:spcAft>
                <a:spcPts val="600"/>
              </a:spcAft>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A single laptop can test every key in well under a second. S-AES is designed to be broken so students can see how attacks work end to end.</a:t>
            </a:r>
            <a:endParaRPr lang="en-US" sz="1300" dirty="0"/>
          </a:p>
        </p:txBody>
      </p:sp>
      <p:sp>
        <p:nvSpPr>
          <p:cNvPr id="10" name="Shape 7"/>
          <p:cNvSpPr/>
          <p:nvPr/>
        </p:nvSpPr>
        <p:spPr>
          <a:xfrm>
            <a:off x="5349240" y="1371600"/>
            <a:ext cx="6400800" cy="23317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1" name="Shape 8"/>
          <p:cNvSpPr/>
          <p:nvPr/>
        </p:nvSpPr>
        <p:spPr>
          <a:xfrm>
            <a:off x="5532120" y="1645920"/>
            <a:ext cx="594360" cy="594360"/>
          </a:xfrm>
          <a:prstGeom prst="ellipse">
            <a:avLst/>
          </a:prstGeom>
          <a:solidFill>
            <a:srgbClr val="F96167"/>
          </a:solidFill>
          <a:ln w="12700">
            <a:solidFill>
              <a:srgbClr val="F96167"/>
            </a:solidFill>
            <a:prstDash val="solid"/>
          </a:ln>
        </p:spPr>
      </p:sp>
      <p:sp>
        <p:nvSpPr>
          <p:cNvPr id="12" name="Text 9"/>
          <p:cNvSpPr/>
          <p:nvPr/>
        </p:nvSpPr>
        <p:spPr>
          <a:xfrm>
            <a:off x="5532120" y="1645920"/>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1</a:t>
            </a:r>
            <a:endParaRPr lang="en-US" sz="2200" dirty="0"/>
          </a:p>
        </p:txBody>
      </p:sp>
      <p:sp>
        <p:nvSpPr>
          <p:cNvPr id="13" name="Text 10"/>
          <p:cNvSpPr/>
          <p:nvPr/>
        </p:nvSpPr>
        <p:spPr>
          <a:xfrm>
            <a:off x="6263640" y="1645920"/>
            <a:ext cx="5486400" cy="411480"/>
          </a:xfrm>
          <a:prstGeom prst="rect">
            <a:avLst/>
          </a:prstGeom>
          <a:noFill/>
        </p:spPr>
        <p:txBody>
          <a:bodyPr wrap="square" lIns="0" tIns="0" rIns="0" bIns="0" rtlCol="0" anchor="ctr"/>
          <a:lstStyle/>
          <a:p>
            <a:pPr marL="0" indent="0">
              <a:buNone/>
            </a:pPr>
            <a:r>
              <a:rPr lang="en-US" sz="1800" b="1" dirty="0">
                <a:solidFill>
                  <a:srgbClr val="21295C"/>
                </a:solidFill>
                <a:latin typeface="Calibri" panose="020F0502020204030204" pitchFamily="34" charset="0"/>
                <a:ea typeface="Calibri" panose="020F0502020204030204" pitchFamily="34" charset="-122"/>
                <a:cs typeface="Calibri" panose="020F0502020204030204" pitchFamily="34" charset="-120"/>
              </a:rPr>
              <a:t>Known-Plaintext Attack</a:t>
            </a:r>
            <a:endParaRPr lang="en-US" sz="1800" dirty="0"/>
          </a:p>
        </p:txBody>
      </p:sp>
      <p:sp>
        <p:nvSpPr>
          <p:cNvPr id="14" name="Text 11"/>
          <p:cNvSpPr/>
          <p:nvPr/>
        </p:nvSpPr>
        <p:spPr>
          <a:xfrm>
            <a:off x="6263640" y="2148840"/>
            <a:ext cx="5303520" cy="685800"/>
          </a:xfrm>
          <a:prstGeom prst="rect">
            <a:avLst/>
          </a:prstGeom>
          <a:noFill/>
        </p:spPr>
        <p:txBody>
          <a:bodyPr wrap="square" lIns="0" tIns="0" rIns="0" bIns="0" rtlCol="0" anchor="ctr"/>
          <a:lstStyle/>
          <a:p>
            <a:pPr marL="0" indent="0">
              <a:buNone/>
            </a:pPr>
            <a:r>
              <a:rPr lang="en-US" sz="1300" dirty="0">
                <a:solidFill>
                  <a:srgbClr val="1A1F36"/>
                </a:solidFill>
                <a:latin typeface="Calibri" panose="020F0502020204030204" pitchFamily="34" charset="0"/>
                <a:ea typeface="Calibri" panose="020F0502020204030204" pitchFamily="34" charset="-122"/>
                <a:cs typeface="Calibri" panose="020F0502020204030204" pitchFamily="34" charset="-120"/>
              </a:rPr>
              <a:t>The attacker has one (plaintext, ciphertext) pair. Test every key until E_K(P) = C.</a:t>
            </a:r>
            <a:endParaRPr lang="en-US" sz="1300" dirty="0"/>
          </a:p>
        </p:txBody>
      </p:sp>
      <p:sp>
        <p:nvSpPr>
          <p:cNvPr id="15" name="Text 12"/>
          <p:cNvSpPr/>
          <p:nvPr/>
        </p:nvSpPr>
        <p:spPr>
          <a:xfrm>
            <a:off x="6263640" y="2926080"/>
            <a:ext cx="5303520" cy="640080"/>
          </a:xfrm>
          <a:prstGeom prst="rect">
            <a:avLst/>
          </a:prstGeom>
          <a:noFill/>
        </p:spPr>
        <p:txBody>
          <a:bodyPr wrap="square" lIns="0" tIns="0" rIns="0" bIns="0" rtlCol="0" anchor="ctr"/>
          <a:lstStyle/>
          <a:p>
            <a:pPr marL="0" indent="0">
              <a:buNone/>
            </a:pPr>
            <a:r>
              <a:rPr lang="en-US" sz="1200" i="1" dirty="0">
                <a:solidFill>
                  <a:srgbClr val="5A6378"/>
                </a:solidFill>
                <a:latin typeface="Calibri" panose="020F0502020204030204" pitchFamily="34" charset="0"/>
                <a:ea typeface="Calibri" panose="020F0502020204030204" pitchFamily="34" charset="-122"/>
                <a:cs typeface="Calibri" panose="020F0502020204030204" pitchFamily="34" charset="-120"/>
              </a:rPr>
              <a:t>Works when any part of the message is predictable, e.g. a file header or HTTP line.</a:t>
            </a:r>
            <a:endParaRPr lang="en-US" sz="1200" dirty="0"/>
          </a:p>
        </p:txBody>
      </p:sp>
      <p:sp>
        <p:nvSpPr>
          <p:cNvPr id="16" name="Shape 13"/>
          <p:cNvSpPr/>
          <p:nvPr/>
        </p:nvSpPr>
        <p:spPr>
          <a:xfrm>
            <a:off x="5349240" y="3840480"/>
            <a:ext cx="6400800" cy="23317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7" name="Shape 14"/>
          <p:cNvSpPr/>
          <p:nvPr/>
        </p:nvSpPr>
        <p:spPr>
          <a:xfrm>
            <a:off x="5532120" y="4114800"/>
            <a:ext cx="594360" cy="594360"/>
          </a:xfrm>
          <a:prstGeom prst="ellipse">
            <a:avLst/>
          </a:prstGeom>
          <a:solidFill>
            <a:srgbClr val="F96167"/>
          </a:solidFill>
          <a:ln w="12700">
            <a:solidFill>
              <a:srgbClr val="F96167"/>
            </a:solidFill>
            <a:prstDash val="solid"/>
          </a:ln>
        </p:spPr>
      </p:sp>
      <p:sp>
        <p:nvSpPr>
          <p:cNvPr id="18" name="Text 15"/>
          <p:cNvSpPr/>
          <p:nvPr/>
        </p:nvSpPr>
        <p:spPr>
          <a:xfrm>
            <a:off x="5532120" y="4114800"/>
            <a:ext cx="594360" cy="594360"/>
          </a:xfrm>
          <a:prstGeom prst="rect">
            <a:avLst/>
          </a:prstGeom>
          <a:noFill/>
        </p:spPr>
        <p:txBody>
          <a:bodyPr wrap="square" lIns="0" tIns="0" rIns="0" bIns="0" rtlCol="0" anchor="ctr"/>
          <a:lstStyle/>
          <a:p>
            <a:pPr marL="0" indent="0" algn="ctr">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2</a:t>
            </a:r>
            <a:endParaRPr lang="en-US" sz="2200" dirty="0"/>
          </a:p>
        </p:txBody>
      </p:sp>
      <p:sp>
        <p:nvSpPr>
          <p:cNvPr id="19" name="Text 16"/>
          <p:cNvSpPr/>
          <p:nvPr/>
        </p:nvSpPr>
        <p:spPr>
          <a:xfrm>
            <a:off x="6263640" y="4114800"/>
            <a:ext cx="5486400" cy="411480"/>
          </a:xfrm>
          <a:prstGeom prst="rect">
            <a:avLst/>
          </a:prstGeom>
          <a:noFill/>
        </p:spPr>
        <p:txBody>
          <a:bodyPr wrap="square" lIns="0" tIns="0" rIns="0" bIns="0" rtlCol="0" anchor="ctr"/>
          <a:lstStyle/>
          <a:p>
            <a:pPr marL="0" indent="0">
              <a:buNone/>
            </a:pPr>
            <a:r>
              <a:rPr lang="en-US" sz="1800" b="1" dirty="0">
                <a:solidFill>
                  <a:srgbClr val="21295C"/>
                </a:solidFill>
                <a:latin typeface="Calibri" panose="020F0502020204030204" pitchFamily="34" charset="0"/>
                <a:ea typeface="Calibri" panose="020F0502020204030204" pitchFamily="34" charset="-122"/>
                <a:cs typeface="Calibri" panose="020F0502020204030204" pitchFamily="34" charset="-120"/>
              </a:rPr>
              <a:t>Ciphertext-Only Attack</a:t>
            </a:r>
            <a:endParaRPr lang="en-US" sz="1800" dirty="0"/>
          </a:p>
        </p:txBody>
      </p:sp>
      <p:sp>
        <p:nvSpPr>
          <p:cNvPr id="20" name="Text 17"/>
          <p:cNvSpPr/>
          <p:nvPr/>
        </p:nvSpPr>
        <p:spPr>
          <a:xfrm>
            <a:off x="6263640" y="4617720"/>
            <a:ext cx="5303520" cy="685800"/>
          </a:xfrm>
          <a:prstGeom prst="rect">
            <a:avLst/>
          </a:prstGeom>
          <a:noFill/>
        </p:spPr>
        <p:txBody>
          <a:bodyPr wrap="square" lIns="0" tIns="0" rIns="0" bIns="0" rtlCol="0" anchor="ctr"/>
          <a:lstStyle/>
          <a:p>
            <a:pPr marL="0" indent="0">
              <a:buNone/>
            </a:pPr>
            <a:r>
              <a:rPr lang="en-US" sz="1300" dirty="0">
                <a:solidFill>
                  <a:srgbClr val="1A1F36"/>
                </a:solidFill>
                <a:latin typeface="Calibri" panose="020F0502020204030204" pitchFamily="34" charset="0"/>
                <a:ea typeface="Calibri" panose="020F0502020204030204" pitchFamily="34" charset="-122"/>
                <a:cs typeface="Calibri" panose="020F0502020204030204" pitchFamily="34" charset="-120"/>
              </a:rPr>
              <a:t>The attacker has only ciphertext but knows the message is English text.</a:t>
            </a:r>
            <a:endParaRPr lang="en-US" sz="1300" dirty="0"/>
          </a:p>
        </p:txBody>
      </p:sp>
      <p:sp>
        <p:nvSpPr>
          <p:cNvPr id="21" name="Text 18"/>
          <p:cNvSpPr/>
          <p:nvPr/>
        </p:nvSpPr>
        <p:spPr>
          <a:xfrm>
            <a:off x="6263640" y="5394960"/>
            <a:ext cx="5303520" cy="640080"/>
          </a:xfrm>
          <a:prstGeom prst="rect">
            <a:avLst/>
          </a:prstGeom>
          <a:noFill/>
        </p:spPr>
        <p:txBody>
          <a:bodyPr wrap="square" lIns="0" tIns="0" rIns="0" bIns="0" rtlCol="0" anchor="ctr"/>
          <a:lstStyle/>
          <a:p>
            <a:pPr marL="0" indent="0">
              <a:buNone/>
            </a:pPr>
            <a:r>
              <a:rPr lang="en-US" sz="1200" i="1" dirty="0">
                <a:solidFill>
                  <a:srgbClr val="5A6378"/>
                </a:solidFill>
                <a:latin typeface="Calibri" panose="020F0502020204030204" pitchFamily="34" charset="0"/>
                <a:ea typeface="Calibri" panose="020F0502020204030204" pitchFamily="34" charset="-122"/>
                <a:cs typeface="Calibri" panose="020F0502020204030204" pitchFamily="34" charset="-120"/>
              </a:rPr>
              <a:t>Score each candidate decryption by letter frequency and ASCII printability, keep the best.</a:t>
            </a:r>
            <a:endParaRPr lang="en-US" sz="1200" dirty="0"/>
          </a:p>
        </p:txBody>
      </p:sp>
      <p:sp>
        <p:nvSpPr>
          <p:cNvPr id="22" name="Text 19"/>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23" name="Text 20"/>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Brute-Force Results</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Measured on a standard laptop CPU</a:t>
            </a:r>
            <a:endParaRPr lang="en-US" sz="1400" dirty="0"/>
          </a:p>
        </p:txBody>
      </p:sp>
      <p:sp>
        <p:nvSpPr>
          <p:cNvPr id="4" name="Shape 2"/>
          <p:cNvSpPr/>
          <p:nvPr/>
        </p:nvSpPr>
        <p:spPr>
          <a:xfrm>
            <a:off x="502920" y="1371600"/>
            <a:ext cx="5577840" cy="4846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5" name="Shape 3"/>
          <p:cNvSpPr/>
          <p:nvPr/>
        </p:nvSpPr>
        <p:spPr>
          <a:xfrm>
            <a:off x="502920" y="1371600"/>
            <a:ext cx="5577840" cy="502920"/>
          </a:xfrm>
          <a:prstGeom prst="rect">
            <a:avLst/>
          </a:prstGeom>
          <a:solidFill>
            <a:srgbClr val="21295C"/>
          </a:solidFill>
          <a:ln w="12700">
            <a:solidFill>
              <a:srgbClr val="21295C"/>
            </a:solidFill>
            <a:prstDash val="solid"/>
          </a:ln>
        </p:spPr>
      </p:sp>
      <p:sp>
        <p:nvSpPr>
          <p:cNvPr id="6" name="Text 4"/>
          <p:cNvSpPr/>
          <p:nvPr/>
        </p:nvSpPr>
        <p:spPr>
          <a:xfrm>
            <a:off x="502920" y="1371600"/>
            <a:ext cx="557784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Attack 1:  Known-Plaintext</a:t>
            </a:r>
            <a:endParaRPr lang="en-US" sz="1500" dirty="0"/>
          </a:p>
        </p:txBody>
      </p:sp>
      <p:sp>
        <p:nvSpPr>
          <p:cNvPr id="7" name="Text 5"/>
          <p:cNvSpPr/>
          <p:nvPr/>
        </p:nvSpPr>
        <p:spPr>
          <a:xfrm>
            <a:off x="685800" y="2011680"/>
            <a:ext cx="2743200" cy="27432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Plaintext block</a:t>
            </a:r>
            <a:endParaRPr lang="en-US" sz="1100" dirty="0"/>
          </a:p>
        </p:txBody>
      </p:sp>
      <p:sp>
        <p:nvSpPr>
          <p:cNvPr id="8" name="Text 6"/>
          <p:cNvSpPr/>
          <p:nvPr/>
        </p:nvSpPr>
        <p:spPr>
          <a:xfrm>
            <a:off x="685800" y="2286000"/>
            <a:ext cx="2743200" cy="365760"/>
          </a:xfrm>
          <a:prstGeom prst="rect">
            <a:avLst/>
          </a:prstGeom>
          <a:noFill/>
        </p:spPr>
        <p:txBody>
          <a:bodyPr wrap="square" lIns="0" tIns="0" rIns="0" bIns="0" rtlCol="0" anchor="ctr"/>
          <a:lstStyle/>
          <a:p>
            <a:pPr marL="0" indent="0">
              <a:buNone/>
            </a:pPr>
            <a:r>
              <a:rPr lang="en-US" sz="1800" b="1" dirty="0">
                <a:solidFill>
                  <a:srgbClr val="1A1F36"/>
                </a:solidFill>
                <a:latin typeface="Consolas" panose="020B0609020204030204" pitchFamily="34" charset="0"/>
                <a:ea typeface="Consolas" panose="020B0609020204030204" pitchFamily="34" charset="-122"/>
                <a:cs typeface="Consolas" panose="020B0609020204030204" pitchFamily="34" charset="-120"/>
              </a:rPr>
              <a:t>0xD728</a:t>
            </a:r>
            <a:endParaRPr lang="en-US" sz="1800" dirty="0"/>
          </a:p>
        </p:txBody>
      </p:sp>
      <p:sp>
        <p:nvSpPr>
          <p:cNvPr id="9" name="Text 7"/>
          <p:cNvSpPr/>
          <p:nvPr/>
        </p:nvSpPr>
        <p:spPr>
          <a:xfrm>
            <a:off x="3246120" y="2011680"/>
            <a:ext cx="2743200" cy="27432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Ciphertext block</a:t>
            </a:r>
            <a:endParaRPr lang="en-US" sz="1100" dirty="0"/>
          </a:p>
        </p:txBody>
      </p:sp>
      <p:sp>
        <p:nvSpPr>
          <p:cNvPr id="10" name="Text 8"/>
          <p:cNvSpPr/>
          <p:nvPr/>
        </p:nvSpPr>
        <p:spPr>
          <a:xfrm>
            <a:off x="3246120" y="2286000"/>
            <a:ext cx="2743200" cy="365760"/>
          </a:xfrm>
          <a:prstGeom prst="rect">
            <a:avLst/>
          </a:prstGeom>
          <a:noFill/>
        </p:spPr>
        <p:txBody>
          <a:bodyPr wrap="square" lIns="0" tIns="0" rIns="0" bIns="0" rtlCol="0" anchor="ctr"/>
          <a:lstStyle/>
          <a:p>
            <a:pPr marL="0" indent="0">
              <a:buNone/>
            </a:pPr>
            <a:r>
              <a:rPr lang="en-US" sz="1800" b="1" dirty="0">
                <a:solidFill>
                  <a:srgbClr val="1A1F36"/>
                </a:solidFill>
                <a:latin typeface="Consolas" panose="020B0609020204030204" pitchFamily="34" charset="0"/>
                <a:ea typeface="Consolas" panose="020B0609020204030204" pitchFamily="34" charset="-122"/>
                <a:cs typeface="Consolas" panose="020B0609020204030204" pitchFamily="34" charset="-120"/>
              </a:rPr>
              <a:t>0x8888</a:t>
            </a:r>
            <a:endParaRPr lang="en-US" sz="1800" dirty="0"/>
          </a:p>
        </p:txBody>
      </p:sp>
      <p:sp>
        <p:nvSpPr>
          <p:cNvPr id="11" name="Shape 9"/>
          <p:cNvSpPr/>
          <p:nvPr/>
        </p:nvSpPr>
        <p:spPr>
          <a:xfrm>
            <a:off x="685800" y="2834640"/>
            <a:ext cx="5212080" cy="0"/>
          </a:xfrm>
          <a:prstGeom prst="line">
            <a:avLst/>
          </a:prstGeom>
          <a:noFill/>
          <a:ln w="12700">
            <a:solidFill>
              <a:srgbClr val="E2E8F0"/>
            </a:solidFill>
            <a:prstDash val="solid"/>
          </a:ln>
        </p:spPr>
      </p:sp>
      <p:sp>
        <p:nvSpPr>
          <p:cNvPr id="12" name="Text 10"/>
          <p:cNvSpPr/>
          <p:nvPr/>
        </p:nvSpPr>
        <p:spPr>
          <a:xfrm>
            <a:off x="685800" y="3017520"/>
            <a:ext cx="2560320" cy="822960"/>
          </a:xfrm>
          <a:prstGeom prst="rect">
            <a:avLst/>
          </a:prstGeom>
          <a:noFill/>
        </p:spPr>
        <p:txBody>
          <a:bodyPr wrap="square" lIns="0" tIns="0" rIns="0" bIns="0" rtlCol="0" anchor="ctr"/>
          <a:lstStyle/>
          <a:p>
            <a:pPr marL="0" indent="0">
              <a:buNone/>
            </a:pPr>
            <a:r>
              <a:rPr lang="en-US" sz="4400" b="1" dirty="0">
                <a:solidFill>
                  <a:srgbClr val="F96167"/>
                </a:solidFill>
                <a:latin typeface="Georgia" panose="02040502050405020303" pitchFamily="34" charset="0"/>
                <a:ea typeface="Georgia" panose="02040502050405020303" pitchFamily="34" charset="-122"/>
                <a:cs typeface="Georgia" panose="02040502050405020303" pitchFamily="34" charset="-120"/>
              </a:rPr>
              <a:t>0.47 s</a:t>
            </a:r>
            <a:endParaRPr lang="en-US" sz="4400" dirty="0"/>
          </a:p>
        </p:txBody>
      </p:sp>
      <p:sp>
        <p:nvSpPr>
          <p:cNvPr id="13" name="Text 11"/>
          <p:cNvSpPr/>
          <p:nvPr/>
        </p:nvSpPr>
        <p:spPr>
          <a:xfrm>
            <a:off x="685800" y="3840480"/>
            <a:ext cx="2560320" cy="27432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Time to recover key</a:t>
            </a:r>
            <a:endParaRPr lang="en-US" sz="1100" dirty="0"/>
          </a:p>
        </p:txBody>
      </p:sp>
      <p:sp>
        <p:nvSpPr>
          <p:cNvPr id="14" name="Text 12"/>
          <p:cNvSpPr/>
          <p:nvPr/>
        </p:nvSpPr>
        <p:spPr>
          <a:xfrm>
            <a:off x="3383280" y="3017520"/>
            <a:ext cx="2560320" cy="822960"/>
          </a:xfrm>
          <a:prstGeom prst="rect">
            <a:avLst/>
          </a:prstGeom>
          <a:noFill/>
        </p:spPr>
        <p:txBody>
          <a:bodyPr wrap="square" lIns="0" tIns="0" rIns="0" bIns="0" rtlCol="0" anchor="ctr"/>
          <a:lstStyle/>
          <a:p>
            <a:pPr marL="0" indent="0">
              <a:buNone/>
            </a:pPr>
            <a:r>
              <a:rPr lang="en-US" sz="3600" b="1" dirty="0">
                <a:solidFill>
                  <a:srgbClr val="2C8A5F"/>
                </a:solidFill>
                <a:latin typeface="Georgia" panose="02040502050405020303" pitchFamily="34" charset="0"/>
                <a:ea typeface="Georgia" panose="02040502050405020303" pitchFamily="34" charset="-122"/>
                <a:cs typeface="Georgia" panose="02040502050405020303" pitchFamily="34" charset="-120"/>
              </a:rPr>
              <a:t>0xA73B</a:t>
            </a:r>
            <a:endParaRPr lang="en-US" sz="3600" dirty="0"/>
          </a:p>
        </p:txBody>
      </p:sp>
      <p:sp>
        <p:nvSpPr>
          <p:cNvPr id="15" name="Text 13"/>
          <p:cNvSpPr/>
          <p:nvPr/>
        </p:nvSpPr>
        <p:spPr>
          <a:xfrm>
            <a:off x="3383280" y="3840480"/>
            <a:ext cx="2560320" cy="274320"/>
          </a:xfrm>
          <a:prstGeom prst="rect">
            <a:avLst/>
          </a:prstGeom>
          <a:noFill/>
        </p:spPr>
        <p:txBody>
          <a:bodyPr wrap="square" lIns="0" tIns="0" rIns="0" bIns="0" rtlCol="0" anchor="ctr"/>
          <a:lstStyle/>
          <a:p>
            <a:pPr marL="0" indent="0">
              <a:buNone/>
            </a:pP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Key recovered (correct)</a:t>
            </a:r>
            <a:endParaRPr lang="en-US" sz="1100" dirty="0"/>
          </a:p>
        </p:txBody>
      </p:sp>
      <p:sp>
        <p:nvSpPr>
          <p:cNvPr id="16" name="Shape 14"/>
          <p:cNvSpPr/>
          <p:nvPr/>
        </p:nvSpPr>
        <p:spPr>
          <a:xfrm>
            <a:off x="685800" y="4297680"/>
            <a:ext cx="5212080" cy="0"/>
          </a:xfrm>
          <a:prstGeom prst="line">
            <a:avLst/>
          </a:prstGeom>
          <a:noFill/>
          <a:ln w="12700">
            <a:solidFill>
              <a:srgbClr val="E2E8F0"/>
            </a:solidFill>
            <a:prstDash val="solid"/>
          </a:ln>
        </p:spPr>
      </p:sp>
      <p:sp>
        <p:nvSpPr>
          <p:cNvPr id="17" name="Text 15"/>
          <p:cNvSpPr/>
          <p:nvPr/>
        </p:nvSpPr>
        <p:spPr>
          <a:xfrm>
            <a:off x="685800" y="4480560"/>
            <a:ext cx="5212080" cy="731520"/>
          </a:xfrm>
          <a:prstGeom prst="rect">
            <a:avLst/>
          </a:prstGeom>
          <a:noFill/>
        </p:spPr>
        <p:txBody>
          <a:bodyPr wrap="square" lIns="0" tIns="0" rIns="0" bIns="0" rtlCol="0" anchor="ctr"/>
          <a:lstStyle/>
          <a:p>
            <a:pPr marL="0" indent="0">
              <a:buNone/>
            </a:pPr>
            <a:r>
              <a:rPr lang="en-US" sz="1200" i="1" dirty="0">
                <a:solidFill>
                  <a:srgbClr val="1A1F36"/>
                </a:solidFill>
                <a:latin typeface="Calibri" panose="020F0502020204030204" pitchFamily="34" charset="0"/>
                <a:ea typeface="Calibri" panose="020F0502020204030204" pitchFamily="34" charset="-122"/>
                <a:cs typeface="Calibri" panose="020F0502020204030204" pitchFamily="34" charset="-120"/>
              </a:rPr>
              <a:t>Only one key out of 65,536 encrypts 0xD728 to 0x8888, so the search is unambiguous.</a:t>
            </a:r>
            <a:endParaRPr lang="en-US" sz="1200" dirty="0"/>
          </a:p>
        </p:txBody>
      </p:sp>
      <p:sp>
        <p:nvSpPr>
          <p:cNvPr id="18" name="Text 16"/>
          <p:cNvSpPr/>
          <p:nvPr/>
        </p:nvSpPr>
        <p:spPr>
          <a:xfrm>
            <a:off x="685800" y="5349240"/>
            <a:ext cx="5212080" cy="640080"/>
          </a:xfrm>
          <a:prstGeom prst="rect">
            <a:avLst/>
          </a:prstGeom>
          <a:noFill/>
        </p:spPr>
        <p:txBody>
          <a:bodyPr wrap="square" lIns="0" tIns="0" rIns="0" bIns="0" rtlCol="0" anchor="ctr"/>
          <a:lstStyle/>
          <a:p>
            <a:pPr marL="0" indent="0">
              <a:buNone/>
            </a:pPr>
            <a:r>
              <a:rPr lang="en-US" sz="1100" b="1" dirty="0">
                <a:solidFill>
                  <a:srgbClr val="21295C"/>
                </a:solidFill>
                <a:latin typeface="Calibri" panose="020F0502020204030204" pitchFamily="34" charset="0"/>
                <a:ea typeface="Calibri" panose="020F0502020204030204" pitchFamily="34" charset="-122"/>
                <a:cs typeface="Calibri" panose="020F0502020204030204" pitchFamily="34" charset="-120"/>
              </a:rPr>
              <a:t>Attack complexity </a:t>
            </a:r>
            <a:r>
              <a:rPr lang="en-US" sz="1100" dirty="0">
                <a:solidFill>
                  <a:srgbClr val="5A6378"/>
                </a:solidFill>
                <a:latin typeface="Calibri" panose="020F0502020204030204" pitchFamily="34" charset="0"/>
                <a:ea typeface="Calibri" panose="020F0502020204030204" pitchFamily="34" charset="-122"/>
                <a:cs typeface="Calibri" panose="020F0502020204030204" pitchFamily="34" charset="-120"/>
              </a:rPr>
              <a:t>= O(2^n) trial encryptions. Linear in key space, constant memory.</a:t>
            </a:r>
            <a:endParaRPr lang="en-US" sz="1100" dirty="0"/>
          </a:p>
        </p:txBody>
      </p:sp>
      <p:sp>
        <p:nvSpPr>
          <p:cNvPr id="19" name="Shape 17"/>
          <p:cNvSpPr/>
          <p:nvPr/>
        </p:nvSpPr>
        <p:spPr>
          <a:xfrm>
            <a:off x="6217920" y="1371600"/>
            <a:ext cx="5532120" cy="4846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20" name="Shape 18"/>
          <p:cNvSpPr/>
          <p:nvPr/>
        </p:nvSpPr>
        <p:spPr>
          <a:xfrm>
            <a:off x="6217920" y="1371600"/>
            <a:ext cx="5532120" cy="502920"/>
          </a:xfrm>
          <a:prstGeom prst="rect">
            <a:avLst/>
          </a:prstGeom>
          <a:solidFill>
            <a:srgbClr val="F96167"/>
          </a:solidFill>
          <a:ln w="12700">
            <a:solidFill>
              <a:srgbClr val="F96167"/>
            </a:solidFill>
            <a:prstDash val="solid"/>
          </a:ln>
        </p:spPr>
      </p:sp>
      <p:sp>
        <p:nvSpPr>
          <p:cNvPr id="21" name="Text 19"/>
          <p:cNvSpPr/>
          <p:nvPr/>
        </p:nvSpPr>
        <p:spPr>
          <a:xfrm>
            <a:off x="6217920" y="1371600"/>
            <a:ext cx="5532120" cy="5029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Attack 2:  Ciphertext-Only</a:t>
            </a:r>
            <a:endParaRPr lang="en-US" sz="1500" dirty="0"/>
          </a:p>
        </p:txBody>
      </p:sp>
      <p:sp>
        <p:nvSpPr>
          <p:cNvPr id="22" name="Text 20"/>
          <p:cNvSpPr/>
          <p:nvPr/>
        </p:nvSpPr>
        <p:spPr>
          <a:xfrm>
            <a:off x="6400800" y="2011680"/>
            <a:ext cx="5212080" cy="274320"/>
          </a:xfrm>
          <a:prstGeom prst="rect">
            <a:avLst/>
          </a:prstGeom>
          <a:noFill/>
        </p:spPr>
        <p:txBody>
          <a:bodyPr wrap="square" lIns="0" tIns="0" rIns="0" bIns="0" rtlCol="0" anchor="ctr"/>
          <a:lstStyle/>
          <a:p>
            <a:pPr marL="0" indent="0">
              <a:buNone/>
            </a:pPr>
            <a:r>
              <a:rPr lang="en-US" sz="1100" i="1" dirty="0">
                <a:solidFill>
                  <a:srgbClr val="5A6378"/>
                </a:solidFill>
                <a:latin typeface="Calibri" panose="020F0502020204030204" pitchFamily="34" charset="0"/>
                <a:ea typeface="Calibri" panose="020F0502020204030204" pitchFamily="34" charset="-122"/>
                <a:cs typeface="Calibri" panose="020F0502020204030204" pitchFamily="34" charset="-120"/>
              </a:rPr>
              <a:t>Top 5 candidates ranked by English-likeness score:</a:t>
            </a:r>
            <a:endParaRPr lang="en-US" sz="1100" dirty="0"/>
          </a:p>
        </p:txBody>
      </p:sp>
      <p:graphicFrame>
        <p:nvGraphicFramePr>
          <p:cNvPr id="23" name="Table 0"/>
          <p:cNvGraphicFramePr>
            <a:graphicFrameLocks noGrp="1"/>
          </p:cNvGraphicFramePr>
          <p:nvPr/>
        </p:nvGraphicFramePr>
        <p:xfrm>
          <a:off x="6400800" y="2331720"/>
          <a:ext cx="5212080" cy="2084832"/>
        </p:xfrm>
        <a:graphic>
          <a:graphicData uri="http://schemas.openxmlformats.org/drawingml/2006/table">
            <a:tbl>
              <a:tblPr/>
              <a:tblGrid>
                <a:gridCol w="548640"/>
                <a:gridCol w="1005840"/>
                <a:gridCol w="1005840"/>
                <a:gridCol w="2651760"/>
              </a:tblGrid>
              <a:tr h="347472">
                <a:tc>
                  <a:txBody>
                    <a:bodyPr/>
                    <a:lstStyle/>
                    <a:p>
                      <a:pPr marL="0" indent="0">
                        <a:buNone/>
                      </a:pPr>
                      <a:r>
                        <a:rPr lang="en-US" sz="1100" b="1" dirty="0">
                          <a:solidFill>
                            <a:srgbClr val="1A1F36"/>
                          </a:solidFill>
                          <a:latin typeface="Calibri" panose="020F0502020204030204" pitchFamily="34" charset="0"/>
                          <a:ea typeface="Calibri" panose="020F0502020204030204" pitchFamily="34" charset="-122"/>
                          <a:cs typeface="Calibri" panose="020F0502020204030204" pitchFamily="34" charset="-120"/>
                        </a:rPr>
                        <a:t>Rank</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b="1" dirty="0">
                          <a:solidFill>
                            <a:srgbClr val="1A1F36"/>
                          </a:solidFill>
                          <a:latin typeface="Calibri" panose="020F0502020204030204" pitchFamily="34" charset="0"/>
                          <a:ea typeface="Calibri" panose="020F0502020204030204" pitchFamily="34" charset="-122"/>
                          <a:cs typeface="Calibri" panose="020F0502020204030204" pitchFamily="34" charset="-120"/>
                        </a:rPr>
                        <a:t>Key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b="1" dirty="0">
                          <a:solidFill>
                            <a:srgbClr val="1A1F36"/>
                          </a:solidFill>
                          <a:latin typeface="Calibri" panose="020F0502020204030204" pitchFamily="34" charset="0"/>
                          <a:ea typeface="Calibri" panose="020F0502020204030204" pitchFamily="34" charset="-122"/>
                          <a:cs typeface="Calibri" panose="020F0502020204030204" pitchFamily="34" charset="-120"/>
                        </a:rPr>
                        <a:t>Score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b="1" dirty="0">
                          <a:solidFill>
                            <a:srgbClr val="1A1F36"/>
                          </a:solidFill>
                          <a:latin typeface="Calibri" panose="020F0502020204030204" pitchFamily="34" charset="0"/>
                          <a:ea typeface="Calibri" panose="020F0502020204030204" pitchFamily="34" charset="-122"/>
                          <a:cs typeface="Calibri" panose="020F0502020204030204" pitchFamily="34" charset="-120"/>
                        </a:rPr>
                        <a:t>Decrypted preview</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347472">
                <a:tc>
                  <a:txBody>
                    <a:bodyPr/>
                    <a:lstStyle/>
                    <a:p>
                      <a:pPr marL="0" indent="0">
                        <a:buNone/>
                      </a:pPr>
                      <a:r>
                        <a:rPr lang="en-US" sz="1100" b="1" dirty="0">
                          <a:solidFill>
                            <a:srgbClr val="2C8A5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chemeClr val="tx1"/>
                          </a:solidFill>
                          <a:latin typeface="Consolas" panose="020B0609020204030204" pitchFamily="34" charset="0"/>
                          <a:ea typeface="Consolas" panose="020B0609020204030204" pitchFamily="34" charset="-122"/>
                          <a:cs typeface="Consolas" panose="020B0609020204030204" pitchFamily="34" charset="-120"/>
                        </a:rPr>
                        <a:t>0xA73B</a:t>
                      </a:r>
                      <a:endParaRPr lang="en-US" sz="1100" b="1" dirty="0">
                        <a:solidFill>
                          <a:schemeClr val="tx1"/>
                        </a:solidFill>
                        <a:latin typeface="Consolas" panose="020B0609020204030204" pitchFamily="34" charset="0"/>
                        <a:ea typeface="Consolas" panose="020B0609020204030204" pitchFamily="34" charset="-122"/>
                        <a:cs typeface="Consolas" panose="020B0609020204030204" pitchFamily="34" charset="-12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chemeClr val="tx1"/>
                          </a:solidFill>
                          <a:latin typeface="Consolas" panose="020B0609020204030204" pitchFamily="34" charset="0"/>
                          <a:ea typeface="Consolas" panose="020B0609020204030204" pitchFamily="34" charset="-122"/>
                          <a:cs typeface="Consolas" panose="020B0609020204030204" pitchFamily="34" charset="-120"/>
                        </a:rPr>
                        <a:t>101.96</a:t>
                      </a:r>
                      <a:endParaRPr lang="en-US" sz="1100" b="1" dirty="0">
                        <a:solidFill>
                          <a:schemeClr val="tx1"/>
                        </a:solidFill>
                        <a:latin typeface="Consolas" panose="020B0609020204030204" pitchFamily="34" charset="0"/>
                        <a:ea typeface="Consolas" panose="020B0609020204030204" pitchFamily="34" charset="-122"/>
                        <a:cs typeface="Consolas" panose="020B0609020204030204" pitchFamily="34" charset="-12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altLang="en-US" sz="1100" dirty="0">
                          <a:solidFill>
                            <a:schemeClr val="tx1"/>
                          </a:solidFill>
                          <a:latin typeface="Consolas" panose="020B0609020204030204" pitchFamily="34" charset="0"/>
                          <a:ea typeface="Consolas" panose="020B0609020204030204" pitchFamily="34" charset="0"/>
                          <a:cs typeface="Consolas" panose="020B0609020204030204" pitchFamily="34" charset="0"/>
                        </a:rPr>
                        <a:t>This is the confidential text for the...</a:t>
                      </a:r>
                      <a:endParaRPr lang="en-US" altLang="en-US" sz="1100" dirty="0">
                        <a:solidFill>
                          <a:schemeClr val="tx1"/>
                        </a:solidFill>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47472">
                <a:tc>
                  <a:txBody>
                    <a:bodyPr/>
                    <a:lstStyle/>
                    <a:p>
                      <a:pPr marL="0" indent="0">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2</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0x4C51</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-312.50</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#+#`#7#&amp;#k#9D:2h ...</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47472">
                <a:tc>
                  <a:txBody>
                    <a:bodyPr/>
                    <a:lstStyle/>
                    <a:p>
                      <a:pPr marL="0" indent="0">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3</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0x620A</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-312.50</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b&gt;X#B#P#P:W*U#S5S ...</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47472">
                <a:tc>
                  <a:txBody>
                    <a:bodyPr/>
                    <a:lstStyle/>
                    <a:p>
                      <a:pPr marL="0" indent="0">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4</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0xAD44</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-312.50</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&amp;:\v#)#;#}#,#%#yD ...</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47472">
                <a:tc>
                  <a:txBody>
                    <a:bodyPr/>
                    <a:lstStyle/>
                    <a:p>
                      <a:pPr marL="0" indent="0">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0x482A</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-343.75</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5A6378"/>
                          </a:solidFill>
                          <a:latin typeface="Consolas" panose="020B0609020204030204" pitchFamily="34" charset="0"/>
                          <a:ea typeface="Consolas" panose="020B0609020204030204" pitchFamily="34" charset="-122"/>
                          <a:cs typeface="Consolas" panose="020B0609020204030204" pitchFamily="34" charset="-120"/>
                        </a:rPr>
                        <a:t>C##f8~^}#s#w#w#zO ...</a:t>
                      </a:r>
                      <a:endParaRPr lang="en-US" sz="11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24" name="Text 21"/>
          <p:cNvSpPr/>
          <p:nvPr/>
        </p:nvSpPr>
        <p:spPr>
          <a:xfrm>
            <a:off x="6400800" y="4892040"/>
            <a:ext cx="5212080" cy="1188720"/>
          </a:xfrm>
          <a:prstGeom prst="rect">
            <a:avLst/>
          </a:prstGeom>
          <a:noFill/>
        </p:spPr>
        <p:txBody>
          <a:bodyPr wrap="square" lIns="0" tIns="0" rIns="0" bIns="0" rtlCol="0" anchor="ctr"/>
          <a:lstStyle/>
          <a:p>
            <a:pPr marL="0" indent="0">
              <a:buNone/>
            </a:pPr>
            <a:r>
              <a:rPr lang="en-US" sz="1200" i="1" dirty="0">
                <a:solidFill>
                  <a:srgbClr val="1A1F36"/>
                </a:solidFill>
                <a:latin typeface="Calibri" panose="020F0502020204030204" pitchFamily="34" charset="0"/>
                <a:ea typeface="Calibri" panose="020F0502020204030204" pitchFamily="34" charset="-122"/>
                <a:cs typeface="Calibri" panose="020F0502020204030204" pitchFamily="34" charset="-120"/>
              </a:rPr>
              <a:t>Finished in </a:t>
            </a:r>
            <a:r>
              <a:rPr lang="en-US" sz="1200" b="1" i="1" dirty="0">
                <a:solidFill>
                  <a:srgbClr val="F96167"/>
                </a:solidFill>
                <a:latin typeface="Calibri" panose="020F0502020204030204" pitchFamily="34" charset="0"/>
                <a:ea typeface="Calibri" panose="020F0502020204030204" pitchFamily="34" charset="-122"/>
                <a:cs typeface="Calibri" panose="020F0502020204030204" pitchFamily="34" charset="-120"/>
              </a:rPr>
              <a:t>20.48 s</a:t>
            </a:r>
            <a:r>
              <a:rPr lang="en-US" sz="1200" i="1" dirty="0">
                <a:solidFill>
                  <a:srgbClr val="1A1F36"/>
                </a:solidFill>
                <a:latin typeface="Calibri" panose="020F0502020204030204" pitchFamily="34" charset="0"/>
                <a:ea typeface="Calibri" panose="020F0502020204030204" pitchFamily="34" charset="-122"/>
                <a:cs typeface="Calibri" panose="020F0502020204030204" pitchFamily="34" charset="-120"/>
              </a:rPr>
              <a:t>. </a:t>
            </a:r>
            <a:r>
              <a:rPr lang="en-US" altLang="en-US" sz="1200" dirty="0"/>
              <a:t>The correct key scores significantly higher than random candidates.</a:t>
            </a:r>
            <a:endParaRPr lang="en-US" altLang="en-US" sz="1200" dirty="0"/>
          </a:p>
        </p:txBody>
      </p:sp>
      <p:sp>
        <p:nvSpPr>
          <p:cNvPr id="25" name="Text 22"/>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26" name="Text 23"/>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7295" cy="548640"/>
          </a:xfrm>
          <a:prstGeom prst="rect">
            <a:avLst/>
          </a:prstGeom>
          <a:noFill/>
        </p:spPr>
        <p:txBody>
          <a:bodyPr wrap="square" lIns="0" tIns="0" rIns="0" bIns="0" rtlCol="0" anchor="ctr"/>
          <a:lstStyle/>
          <a:p>
            <a:pPr marL="0" indent="0">
              <a:buNone/>
            </a:pPr>
            <a:r>
              <a:rPr lang="en-US" sz="3200" b="1" dirty="0">
                <a:solidFill>
                  <a:srgbClr val="21295C"/>
                </a:solidFill>
                <a:latin typeface="Georgia" panose="02040502050405020303" pitchFamily="34" charset="0"/>
                <a:ea typeface="Georgia" panose="02040502050405020303" pitchFamily="34" charset="-122"/>
                <a:cs typeface="Georgia" panose="02040502050405020303" pitchFamily="34" charset="-120"/>
              </a:rPr>
              <a:t>Why Real AES Is Safe</a:t>
            </a:r>
            <a:endParaRPr lang="en-US" sz="3200" dirty="0"/>
          </a:p>
        </p:txBody>
      </p:sp>
      <p:sp>
        <p:nvSpPr>
          <p:cNvPr id="3" name="Text 1"/>
          <p:cNvSpPr/>
          <p:nvPr/>
        </p:nvSpPr>
        <p:spPr>
          <a:xfrm>
            <a:off x="457200" y="868680"/>
            <a:ext cx="11277295" cy="320040"/>
          </a:xfrm>
          <a:prstGeom prst="rect">
            <a:avLst/>
          </a:prstGeom>
          <a:noFill/>
        </p:spPr>
        <p:txBody>
          <a:bodyPr wrap="square" lIns="0" tIns="0" rIns="0" bIns="0" rtlCol="0" anchor="ctr"/>
          <a:lstStyle/>
          <a:p>
            <a:pPr marL="0" indent="0">
              <a:buNone/>
            </a:pPr>
            <a:r>
              <a:rPr lang="en-US" sz="1400" i="1" dirty="0">
                <a:solidFill>
                  <a:srgbClr val="1C7293"/>
                </a:solidFill>
                <a:latin typeface="Calibri" panose="020F0502020204030204" pitchFamily="34" charset="0"/>
                <a:ea typeface="Calibri" panose="020F0502020204030204" pitchFamily="34" charset="-122"/>
                <a:cs typeface="Calibri" panose="020F0502020204030204" pitchFamily="34" charset="-120"/>
              </a:rPr>
              <a:t>The same attack scaled up is mathematically infeasible</a:t>
            </a:r>
            <a:endParaRPr lang="en-US" sz="1400" dirty="0"/>
          </a:p>
        </p:txBody>
      </p:sp>
      <p:sp>
        <p:nvSpPr>
          <p:cNvPr id="4" name="Text 2"/>
          <p:cNvSpPr/>
          <p:nvPr/>
        </p:nvSpPr>
        <p:spPr>
          <a:xfrm>
            <a:off x="502920" y="1371600"/>
            <a:ext cx="5029200" cy="2011680"/>
          </a:xfrm>
          <a:prstGeom prst="rect">
            <a:avLst/>
          </a:prstGeom>
          <a:noFill/>
        </p:spPr>
        <p:txBody>
          <a:bodyPr wrap="square" lIns="0" tIns="0" rIns="0" bIns="0" rtlCol="0" anchor="ctr"/>
          <a:lstStyle/>
          <a:p>
            <a:pPr marL="0" indent="0">
              <a:spcAft>
                <a:spcPts val="600"/>
              </a:spcAft>
              <a:buNone/>
            </a:pPr>
            <a:r>
              <a:rPr lang="en-US" sz="1300" dirty="0">
                <a:solidFill>
                  <a:srgbClr val="1A1F36"/>
                </a:solidFill>
                <a:latin typeface="Calibri" panose="020F0502020204030204" pitchFamily="34" charset="0"/>
                <a:ea typeface="Calibri" panose="020F0502020204030204" pitchFamily="34" charset="-122"/>
                <a:cs typeface="Calibri" panose="020F0502020204030204" pitchFamily="34" charset="-120"/>
              </a:rPr>
              <a:t>Our brute-force machine tests about 132,000 S-AES encryptions per second. At that same rate, the time needed to exhaust each key space grows by a factor of 2 for every extra bit. This is why cryptographers measure security in bits: every extra bit literally doubles the attacker's workload.</a:t>
            </a:r>
            <a:endParaRPr lang="en-US" sz="1300" dirty="0"/>
          </a:p>
        </p:txBody>
      </p:sp>
      <p:sp>
        <p:nvSpPr>
          <p:cNvPr id="5" name="Shape 3"/>
          <p:cNvSpPr/>
          <p:nvPr/>
        </p:nvSpPr>
        <p:spPr>
          <a:xfrm>
            <a:off x="502920" y="3520440"/>
            <a:ext cx="5029200" cy="1554480"/>
          </a:xfrm>
          <a:prstGeom prst="rect">
            <a:avLst/>
          </a:prstGeom>
          <a:solidFill>
            <a:srgbClr val="21295C"/>
          </a:solidFill>
          <a:ln w="12700">
            <a:solidFill>
              <a:srgbClr val="21295C"/>
            </a:solidFill>
            <a:prstDash val="solid"/>
          </a:ln>
        </p:spPr>
      </p:sp>
      <p:sp>
        <p:nvSpPr>
          <p:cNvPr id="6" name="Shape 4"/>
          <p:cNvSpPr/>
          <p:nvPr/>
        </p:nvSpPr>
        <p:spPr>
          <a:xfrm>
            <a:off x="502920" y="3520440"/>
            <a:ext cx="109728" cy="1554480"/>
          </a:xfrm>
          <a:prstGeom prst="rect">
            <a:avLst/>
          </a:prstGeom>
          <a:solidFill>
            <a:srgbClr val="F96167"/>
          </a:solidFill>
          <a:ln w="12700">
            <a:solidFill>
              <a:srgbClr val="F96167"/>
            </a:solidFill>
            <a:prstDash val="solid"/>
          </a:ln>
        </p:spPr>
      </p:sp>
      <p:sp>
        <p:nvSpPr>
          <p:cNvPr id="7" name="Text 5"/>
          <p:cNvSpPr/>
          <p:nvPr/>
        </p:nvSpPr>
        <p:spPr>
          <a:xfrm>
            <a:off x="731520" y="3611880"/>
            <a:ext cx="4754880" cy="822960"/>
          </a:xfrm>
          <a:prstGeom prst="rect">
            <a:avLst/>
          </a:prstGeom>
          <a:noFill/>
        </p:spPr>
        <p:txBody>
          <a:bodyPr wrap="square" lIns="0" tIns="0" rIns="0" bIns="0" rtlCol="0" anchor="ctr"/>
          <a:lstStyle/>
          <a:p>
            <a:pPr marL="0" indent="0">
              <a:buNone/>
            </a:pPr>
            <a:r>
              <a:rPr lang="en-US" sz="4800" b="1" dirty="0">
                <a:solidFill>
                  <a:srgbClr val="FFFFFF"/>
                </a:solidFill>
                <a:latin typeface="Georgia" panose="02040502050405020303" pitchFamily="34" charset="0"/>
                <a:ea typeface="Georgia" panose="02040502050405020303" pitchFamily="34" charset="-122"/>
                <a:cs typeface="Georgia" panose="02040502050405020303" pitchFamily="34" charset="-120"/>
              </a:rPr>
              <a:t>131,912</a:t>
            </a:r>
            <a:endParaRPr lang="en-US" sz="4800" dirty="0"/>
          </a:p>
        </p:txBody>
      </p:sp>
      <p:sp>
        <p:nvSpPr>
          <p:cNvPr id="8" name="Text 6"/>
          <p:cNvSpPr/>
          <p:nvPr/>
        </p:nvSpPr>
        <p:spPr>
          <a:xfrm>
            <a:off x="731520" y="4434840"/>
            <a:ext cx="4754880" cy="365760"/>
          </a:xfrm>
          <a:prstGeom prst="rect">
            <a:avLst/>
          </a:prstGeom>
          <a:noFill/>
        </p:spPr>
        <p:txBody>
          <a:bodyPr wrap="square" lIns="0" tIns="0" rIns="0" bIns="0" rtlCol="0" anchor="ctr"/>
          <a:lstStyle/>
          <a:p>
            <a:pPr marL="0" indent="0">
              <a:buNone/>
            </a:pPr>
            <a:r>
              <a:rPr lang="en-US" sz="1300" dirty="0">
                <a:solidFill>
                  <a:srgbClr val="CADCFC"/>
                </a:solidFill>
                <a:latin typeface="Calibri" panose="020F0502020204030204" pitchFamily="34" charset="0"/>
                <a:ea typeface="Calibri" panose="020F0502020204030204" pitchFamily="34" charset="-122"/>
                <a:cs typeface="Calibri" panose="020F0502020204030204" pitchFamily="34" charset="-120"/>
              </a:rPr>
              <a:t>S-AES encryptions per second (measured)</a:t>
            </a:r>
            <a:endParaRPr lang="en-US" sz="1300" dirty="0"/>
          </a:p>
        </p:txBody>
      </p:sp>
      <p:sp>
        <p:nvSpPr>
          <p:cNvPr id="9" name="Text 7"/>
          <p:cNvSpPr/>
          <p:nvPr/>
        </p:nvSpPr>
        <p:spPr>
          <a:xfrm>
            <a:off x="731520" y="4754880"/>
            <a:ext cx="4754880" cy="274320"/>
          </a:xfrm>
          <a:prstGeom prst="rect">
            <a:avLst/>
          </a:prstGeom>
          <a:noFill/>
        </p:spPr>
        <p:txBody>
          <a:bodyPr wrap="square" lIns="0" tIns="0" rIns="0" bIns="0" rtlCol="0" anchor="ctr"/>
          <a:lstStyle/>
          <a:p>
            <a:pPr marL="0" indent="0">
              <a:buNone/>
            </a:pPr>
            <a:r>
              <a:rPr lang="en-US" sz="1100" i="1" dirty="0">
                <a:solidFill>
                  <a:srgbClr val="CADCFC"/>
                </a:solidFill>
                <a:latin typeface="Calibri" panose="020F0502020204030204" pitchFamily="34" charset="0"/>
                <a:ea typeface="Calibri" panose="020F0502020204030204" pitchFamily="34" charset="-122"/>
                <a:cs typeface="Calibri" panose="020F0502020204030204" pitchFamily="34" charset="-120"/>
              </a:rPr>
              <a:t>-&gt; ~0.5 seconds to break any S-AES key</a:t>
            </a:r>
            <a:endParaRPr lang="en-US" sz="1100" dirty="0"/>
          </a:p>
        </p:txBody>
      </p:sp>
      <p:sp>
        <p:nvSpPr>
          <p:cNvPr id="10" name="Text 8"/>
          <p:cNvSpPr/>
          <p:nvPr/>
        </p:nvSpPr>
        <p:spPr>
          <a:xfrm>
            <a:off x="502920" y="5212080"/>
            <a:ext cx="5029200" cy="1188720"/>
          </a:xfrm>
          <a:prstGeom prst="rect">
            <a:avLst/>
          </a:prstGeom>
          <a:noFill/>
        </p:spPr>
        <p:txBody>
          <a:bodyPr wrap="square" lIns="0" tIns="0" rIns="0" bIns="0" rtlCol="0" anchor="ctr"/>
          <a:lstStyle/>
          <a:p>
            <a:pPr marL="0" indent="0">
              <a:buNone/>
            </a:pPr>
            <a:r>
              <a:rPr lang="en-US" sz="1200" i="1" dirty="0">
                <a:solidFill>
                  <a:srgbClr val="5A6378"/>
                </a:solidFill>
                <a:latin typeface="Calibri" panose="020F0502020204030204" pitchFamily="34" charset="0"/>
                <a:ea typeface="Calibri" panose="020F0502020204030204" pitchFamily="34" charset="-122"/>
                <a:cs typeface="Calibri" panose="020F0502020204030204" pitchFamily="34" charset="-120"/>
              </a:rPr>
              <a:t>Adding 112 bits (16 -&gt; 128) makes the search 5 x 10^33 times slower. Even a billion machines running for a billion years would not scratch it.</a:t>
            </a:r>
            <a:endParaRPr lang="en-US" sz="1200" dirty="0"/>
          </a:p>
        </p:txBody>
      </p:sp>
      <p:sp>
        <p:nvSpPr>
          <p:cNvPr id="11" name="Shape 9"/>
          <p:cNvSpPr/>
          <p:nvPr/>
        </p:nvSpPr>
        <p:spPr>
          <a:xfrm>
            <a:off x="5806440" y="1371600"/>
            <a:ext cx="5943600" cy="4846320"/>
          </a:xfrm>
          <a:prstGeom prst="rect">
            <a:avLst/>
          </a:prstGeom>
          <a:solidFill>
            <a:srgbClr val="FFFFFF"/>
          </a:solidFill>
          <a:ln w="12700">
            <a:solidFill>
              <a:srgbClr val="E2E8F0"/>
            </a:solidFill>
            <a:prstDash val="solid"/>
          </a:ln>
          <a:effectLst>
            <a:outerShdw blurRad="76200" dist="12700" dir="5400000" algn="bl" rotWithShape="0">
              <a:srgbClr val="000000">
                <a:alpha val="5000"/>
              </a:srgbClr>
            </a:outerShdw>
          </a:effectLst>
        </p:spPr>
      </p:sp>
      <p:sp>
        <p:nvSpPr>
          <p:cNvPr id="12" name="Shape 10"/>
          <p:cNvSpPr/>
          <p:nvPr/>
        </p:nvSpPr>
        <p:spPr>
          <a:xfrm>
            <a:off x="5806440" y="1371600"/>
            <a:ext cx="5943600" cy="457200"/>
          </a:xfrm>
          <a:prstGeom prst="rect">
            <a:avLst/>
          </a:prstGeom>
          <a:solidFill>
            <a:srgbClr val="065A82"/>
          </a:solidFill>
          <a:ln w="12700">
            <a:solidFill>
              <a:srgbClr val="065A82"/>
            </a:solidFill>
            <a:prstDash val="solid"/>
          </a:ln>
        </p:spPr>
      </p:sp>
      <p:sp>
        <p:nvSpPr>
          <p:cNvPr id="13" name="Text 11"/>
          <p:cNvSpPr/>
          <p:nvPr/>
        </p:nvSpPr>
        <p:spPr>
          <a:xfrm>
            <a:off x="5806440" y="1371600"/>
            <a:ext cx="594360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Time to exhaust each key space (at 132 K keys/s)</a:t>
            </a:r>
            <a:endParaRPr lang="en-US" sz="1300" dirty="0"/>
          </a:p>
        </p:txBody>
      </p:sp>
      <p:graphicFrame>
        <p:nvGraphicFramePr>
          <p:cNvPr id="14" name="Table 0"/>
          <p:cNvGraphicFramePr>
            <a:graphicFrameLocks noGrp="1"/>
          </p:cNvGraphicFramePr>
          <p:nvPr/>
        </p:nvGraphicFramePr>
        <p:xfrm>
          <a:off x="5943600" y="2011680"/>
          <a:ext cx="5669280" cy="2880360"/>
        </p:xfrm>
        <a:graphic>
          <a:graphicData uri="http://schemas.openxmlformats.org/drawingml/2006/table">
            <a:tbl>
              <a:tblPr/>
              <a:tblGrid>
                <a:gridCol w="1280160"/>
                <a:gridCol w="914400"/>
                <a:gridCol w="1188720"/>
                <a:gridCol w="2286000"/>
              </a:tblGrid>
              <a:tr h="411480">
                <a:tc>
                  <a:txBody>
                    <a:bodyPr/>
                    <a:lstStyle/>
                    <a:p>
                      <a:pPr marL="0" indent="0">
                        <a:buNone/>
                      </a:pPr>
                      <a:r>
                        <a:rPr lang="en-US" sz="1200" b="1" dirty="0">
                          <a:solidFill>
                            <a:srgbClr val="1A1F36"/>
                          </a:solidFill>
                          <a:latin typeface="Calibri" panose="020F0502020204030204" pitchFamily="34" charset="0"/>
                          <a:ea typeface="Calibri" panose="020F0502020204030204" pitchFamily="34" charset="-122"/>
                          <a:cs typeface="Calibri" panose="020F0502020204030204" pitchFamily="34" charset="-120"/>
                        </a:rPr>
                        <a:t>Cipher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dirty="0">
                          <a:solidFill>
                            <a:srgbClr val="1A1F36"/>
                          </a:solidFill>
                          <a:latin typeface="Calibri" panose="020F0502020204030204" pitchFamily="34" charset="0"/>
                          <a:ea typeface="Calibri" panose="020F0502020204030204" pitchFamily="34" charset="-122"/>
                          <a:cs typeface="Calibri" panose="020F0502020204030204" pitchFamily="34" charset="-120"/>
                        </a:rPr>
                        <a:t>Key bits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dirty="0">
                          <a:solidFill>
                            <a:srgbClr val="1A1F36"/>
                          </a:solidFill>
                          <a:latin typeface="Calibri" panose="020F0502020204030204" pitchFamily="34" charset="0"/>
                          <a:ea typeface="Calibri" panose="020F0502020204030204" pitchFamily="34" charset="-122"/>
                          <a:cs typeface="Calibri" panose="020F0502020204030204" pitchFamily="34" charset="-120"/>
                        </a:rPr>
                        <a:t>Key space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200" b="1" dirty="0">
                          <a:solidFill>
                            <a:srgbClr val="1A1F36"/>
                          </a:solidFill>
                          <a:latin typeface="Calibri" panose="020F0502020204030204" pitchFamily="34" charset="0"/>
                          <a:ea typeface="Calibri" panose="020F0502020204030204" pitchFamily="34" charset="-122"/>
                          <a:cs typeface="Calibri" panose="020F0502020204030204" pitchFamily="34" charset="-120"/>
                        </a:rPr>
                        <a:t>Time to break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S-DES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10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onsolas" panose="020B0609020204030204" pitchFamily="34" charset="0"/>
                          <a:ea typeface="Consolas" panose="020B0609020204030204" pitchFamily="34" charset="-122"/>
                          <a:cs typeface="Consolas" panose="020B0609020204030204" pitchFamily="34" charset="-120"/>
                        </a:rPr>
                        <a:t>2^10</a:t>
                      </a:r>
                      <a:endParaRPr lang="en-US" sz="12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F96167"/>
                          </a:solidFill>
                          <a:latin typeface="Calibri" panose="020F0502020204030204" pitchFamily="34" charset="0"/>
                          <a:ea typeface="Calibri" panose="020F0502020204030204" pitchFamily="34" charset="-122"/>
                          <a:cs typeface="Calibri" panose="020F0502020204030204" pitchFamily="34" charset="-120"/>
                        </a:rPr>
                        <a:t>0.008 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S-AES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16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onsolas" panose="020B0609020204030204" pitchFamily="34" charset="0"/>
                          <a:ea typeface="Consolas" panose="020B0609020204030204" pitchFamily="34" charset="-122"/>
                          <a:cs typeface="Consolas" panose="020B0609020204030204" pitchFamily="34" charset="-120"/>
                        </a:rPr>
                        <a:t>2^16</a:t>
                      </a:r>
                      <a:endParaRPr lang="en-US" sz="12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F96167"/>
                          </a:solidFill>
                          <a:latin typeface="Calibri" panose="020F0502020204030204" pitchFamily="34" charset="0"/>
                          <a:ea typeface="Calibri" panose="020F0502020204030204" pitchFamily="34" charset="-122"/>
                          <a:cs typeface="Calibri" panose="020F0502020204030204" pitchFamily="34" charset="-120"/>
                        </a:rPr>
                        <a:t>0.5 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DES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56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onsolas" panose="020B0609020204030204" pitchFamily="34" charset="0"/>
                          <a:ea typeface="Consolas" panose="020B0609020204030204" pitchFamily="34" charset="-122"/>
                          <a:cs typeface="Consolas" panose="020B0609020204030204" pitchFamily="34" charset="-120"/>
                        </a:rPr>
                        <a:t>2^56</a:t>
                      </a:r>
                      <a:endParaRPr lang="en-US" sz="12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AA6C00"/>
                          </a:solidFill>
                          <a:latin typeface="Calibri" panose="020F0502020204030204" pitchFamily="34" charset="0"/>
                          <a:ea typeface="Calibri" panose="020F0502020204030204" pitchFamily="34" charset="-122"/>
                          <a:cs typeface="Calibri" panose="020F0502020204030204" pitchFamily="34" charset="-120"/>
                        </a:rPr>
                        <a:t>17,322 years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AES-128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128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onsolas" panose="020B0609020204030204" pitchFamily="34" charset="0"/>
                          <a:ea typeface="Consolas" panose="020B0609020204030204" pitchFamily="34" charset="-122"/>
                          <a:cs typeface="Consolas" panose="020B0609020204030204" pitchFamily="34" charset="-120"/>
                        </a:rPr>
                        <a:t>2^128</a:t>
                      </a:r>
                      <a:endParaRPr lang="en-US" sz="12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2C8A5F"/>
                          </a:solidFill>
                          <a:latin typeface="Calibri" panose="020F0502020204030204" pitchFamily="34" charset="0"/>
                          <a:ea typeface="Calibri" panose="020F0502020204030204" pitchFamily="34" charset="-122"/>
                          <a:cs typeface="Calibri" panose="020F0502020204030204" pitchFamily="34" charset="-120"/>
                        </a:rPr>
                        <a:t>8.2 x 10^25 yrs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AES-192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192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onsolas" panose="020B0609020204030204" pitchFamily="34" charset="0"/>
                          <a:ea typeface="Consolas" panose="020B0609020204030204" pitchFamily="34" charset="-122"/>
                          <a:cs typeface="Consolas" panose="020B0609020204030204" pitchFamily="34" charset="-120"/>
                        </a:rPr>
                        <a:t>2^192</a:t>
                      </a:r>
                      <a:endParaRPr lang="en-US" sz="12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2C8A5F"/>
                          </a:solidFill>
                          <a:latin typeface="Calibri" panose="020F0502020204030204" pitchFamily="34" charset="0"/>
                          <a:ea typeface="Calibri" panose="020F0502020204030204" pitchFamily="34" charset="-122"/>
                          <a:cs typeface="Calibri" panose="020F0502020204030204" pitchFamily="34" charset="-120"/>
                        </a:rPr>
                        <a:t>1.5 x 10^45 yrs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1480">
                <a:tc>
                  <a:txBody>
                    <a:bodyPr/>
                    <a:lstStyle/>
                    <a:p>
                      <a:pPr marL="0" indent="0">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AES-256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alibri" panose="020F0502020204030204" pitchFamily="34" charset="0"/>
                          <a:ea typeface="Calibri" panose="020F0502020204030204" pitchFamily="34" charset="-122"/>
                          <a:cs typeface="Calibri" panose="020F0502020204030204" pitchFamily="34" charset="-120"/>
                        </a:rPr>
                        <a:t>256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1A1F36"/>
                          </a:solidFill>
                          <a:latin typeface="Consolas" panose="020B0609020204030204" pitchFamily="34" charset="0"/>
                          <a:ea typeface="Consolas" panose="020B0609020204030204" pitchFamily="34" charset="-122"/>
                          <a:cs typeface="Consolas" panose="020B0609020204030204" pitchFamily="34" charset="-120"/>
                        </a:rPr>
                        <a:t>2^256</a:t>
                      </a:r>
                      <a:endParaRPr lang="en-US" sz="1200" dirty="0">
                        <a:latin typeface="Consolas" panose="020B0609020204030204" pitchFamily="34" charset="0"/>
                        <a:ea typeface="Consolas" panose="020B0609020204030204" pitchFamily="34" charset="0"/>
                        <a:cs typeface="Consolas" panose="020B0609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2C8A5F"/>
                          </a:solidFill>
                          <a:latin typeface="Calibri" panose="020F0502020204030204" pitchFamily="34" charset="0"/>
                          <a:ea typeface="Calibri" panose="020F0502020204030204" pitchFamily="34" charset="-122"/>
                          <a:cs typeface="Calibri" panose="020F0502020204030204" pitchFamily="34" charset="-120"/>
                        </a:rPr>
                        <a:t>2.8 x 10^64 yrs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15" name="Text 12"/>
          <p:cNvSpPr/>
          <p:nvPr/>
        </p:nvSpPr>
        <p:spPr>
          <a:xfrm>
            <a:off x="5943600" y="5074920"/>
            <a:ext cx="5669280" cy="365760"/>
          </a:xfrm>
          <a:prstGeom prst="rect">
            <a:avLst/>
          </a:prstGeom>
          <a:noFill/>
        </p:spPr>
        <p:txBody>
          <a:bodyPr wrap="square" lIns="0" tIns="0" rIns="0" bIns="0" rtlCol="0" anchor="ctr"/>
          <a:lstStyle/>
          <a:p>
            <a:pPr marL="0" indent="0" algn="ctr">
              <a:buNone/>
            </a:pPr>
            <a:r>
              <a:rPr lang="en-US" sz="1100" i="1" dirty="0">
                <a:solidFill>
                  <a:srgbClr val="5A6378"/>
                </a:solidFill>
                <a:latin typeface="Calibri" panose="020F0502020204030204" pitchFamily="34" charset="0"/>
                <a:ea typeface="Calibri" panose="020F0502020204030204" pitchFamily="34" charset="-122"/>
                <a:cs typeface="Calibri" panose="020F0502020204030204" pitchFamily="34" charset="-120"/>
              </a:rPr>
              <a:t>Note: the universe is about 1.4 x 10^10 years old.</a:t>
            </a:r>
            <a:endParaRPr lang="en-US" sz="1100" dirty="0"/>
          </a:p>
        </p:txBody>
      </p:sp>
      <p:sp>
        <p:nvSpPr>
          <p:cNvPr id="16" name="Text 13"/>
          <p:cNvSpPr/>
          <p:nvPr/>
        </p:nvSpPr>
        <p:spPr>
          <a:xfrm>
            <a:off x="457200" y="6492240"/>
            <a:ext cx="7315200" cy="274320"/>
          </a:xfrm>
          <a:prstGeom prst="rect">
            <a:avLst/>
          </a:prstGeom>
          <a:noFill/>
        </p:spPr>
        <p:txBody>
          <a:bodyPr wrap="square" lIns="0" tIns="0" rIns="0" bIns="0" rtlCol="0" anchor="ctr"/>
          <a:lstStyle/>
          <a:p>
            <a:pPr marL="0" indent="0" algn="l">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S-AES /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sym typeface="+mn-ea"/>
              </a:rPr>
              <a:t>CFB </a:t>
            </a: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  -  Cryptography Project</a:t>
            </a:r>
            <a:endParaRPr lang="en-US" sz="1000" dirty="0"/>
          </a:p>
        </p:txBody>
      </p:sp>
      <p:sp>
        <p:nvSpPr>
          <p:cNvPr id="17" name="Text 14"/>
          <p:cNvSpPr/>
          <p:nvPr/>
        </p:nvSpPr>
        <p:spPr>
          <a:xfrm>
            <a:off x="10820095" y="6492240"/>
            <a:ext cx="914400" cy="274320"/>
          </a:xfrm>
          <a:prstGeom prst="rect">
            <a:avLst/>
          </a:prstGeom>
          <a:noFill/>
        </p:spPr>
        <p:txBody>
          <a:bodyPr wrap="square" lIns="0" tIns="0" rIns="0" bIns="0" rtlCol="0" anchor="ctr"/>
          <a:lstStyle/>
          <a:p>
            <a:pPr marL="0" indent="0" algn="r">
              <a:buNone/>
            </a:pPr>
            <a:r>
              <a:rPr lang="en-US" sz="1000" dirty="0">
                <a:solidFill>
                  <a:srgbClr val="5A6378"/>
                </a:solidFill>
                <a:latin typeface="Calibri" panose="020F0502020204030204" pitchFamily="34" charset="0"/>
                <a:ea typeface="Calibri" panose="020F0502020204030204" pitchFamily="34" charset="-122"/>
                <a:cs typeface="Calibri" panose="020F0502020204030204"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96167"/>
          </a:solidFill>
          <a:ln w="12700">
            <a:solidFill>
              <a:srgbClr val="F96167"/>
            </a:solidFill>
            <a:prstDash val="solid"/>
          </a:ln>
        </p:spPr>
      </p:sp>
      <p:sp>
        <p:nvSpPr>
          <p:cNvPr id="3" name="Text 1"/>
          <p:cNvSpPr/>
          <p:nvPr/>
        </p:nvSpPr>
        <p:spPr>
          <a:xfrm>
            <a:off x="822960" y="502920"/>
            <a:ext cx="10058400" cy="731520"/>
          </a:xfrm>
          <a:prstGeom prst="rect">
            <a:avLst/>
          </a:prstGeom>
          <a:noFill/>
        </p:spPr>
        <p:txBody>
          <a:bodyPr wrap="square" lIns="0" tIns="0" rIns="0" bIns="0" rtlCol="0" anchor="ctr"/>
          <a:lstStyle/>
          <a:p>
            <a:pPr marL="0" indent="0">
              <a:buNone/>
            </a:pPr>
            <a:r>
              <a:rPr lang="en-US" sz="4000" b="1" dirty="0">
                <a:solidFill>
                  <a:srgbClr val="FFFFFF"/>
                </a:solidFill>
                <a:latin typeface="Georgia" panose="02040502050405020303" pitchFamily="34" charset="0"/>
                <a:ea typeface="Georgia" panose="02040502050405020303" pitchFamily="34" charset="-122"/>
                <a:cs typeface="Georgia" panose="02040502050405020303" pitchFamily="34" charset="-120"/>
              </a:rPr>
              <a:t>Key Takeaways</a:t>
            </a:r>
            <a:endParaRPr lang="en-US" sz="4000" dirty="0"/>
          </a:p>
        </p:txBody>
      </p:sp>
      <p:sp>
        <p:nvSpPr>
          <p:cNvPr id="4" name="Text 2"/>
          <p:cNvSpPr/>
          <p:nvPr/>
        </p:nvSpPr>
        <p:spPr>
          <a:xfrm>
            <a:off x="822960" y="1234440"/>
            <a:ext cx="10058400" cy="36576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What this project demonstrated end to end</a:t>
            </a:r>
            <a:endParaRPr lang="en-US" sz="1600" dirty="0"/>
          </a:p>
        </p:txBody>
      </p:sp>
      <p:sp>
        <p:nvSpPr>
          <p:cNvPr id="5" name="Shape 3"/>
          <p:cNvSpPr/>
          <p:nvPr/>
        </p:nvSpPr>
        <p:spPr>
          <a:xfrm>
            <a:off x="822960" y="1920240"/>
            <a:ext cx="5394960" cy="2057400"/>
          </a:xfrm>
          <a:prstGeom prst="rect">
            <a:avLst/>
          </a:prstGeom>
          <a:solidFill>
            <a:srgbClr val="2D3561"/>
          </a:solidFill>
          <a:ln w="12700">
            <a:solidFill>
              <a:srgbClr val="3A4370"/>
            </a:solidFill>
            <a:prstDash val="solid"/>
          </a:ln>
        </p:spPr>
      </p:sp>
      <p:sp>
        <p:nvSpPr>
          <p:cNvPr id="6" name="Text 4"/>
          <p:cNvSpPr/>
          <p:nvPr/>
        </p:nvSpPr>
        <p:spPr>
          <a:xfrm>
            <a:off x="1097280" y="2103120"/>
            <a:ext cx="914400" cy="548640"/>
          </a:xfrm>
          <a:prstGeom prst="rect">
            <a:avLst/>
          </a:prstGeom>
          <a:noFill/>
        </p:spPr>
        <p:txBody>
          <a:bodyPr wrap="square" lIns="0" tIns="0" rIns="0" bIns="0" rtlCol="0" anchor="ctr"/>
          <a:lstStyle/>
          <a:p>
            <a:pPr marL="0" indent="0">
              <a:buNone/>
            </a:pPr>
            <a:r>
              <a:rPr lang="en-US" sz="2800" b="1" dirty="0">
                <a:solidFill>
                  <a:srgbClr val="F96167"/>
                </a:solidFill>
                <a:latin typeface="Georgia" panose="02040502050405020303" pitchFamily="34" charset="0"/>
                <a:ea typeface="Georgia" panose="02040502050405020303" pitchFamily="34" charset="-122"/>
                <a:cs typeface="Georgia" panose="02040502050405020303" pitchFamily="34" charset="-120"/>
              </a:rPr>
              <a:t>01</a:t>
            </a:r>
            <a:endParaRPr lang="en-US" sz="2800" dirty="0"/>
          </a:p>
        </p:txBody>
      </p:sp>
      <p:sp>
        <p:nvSpPr>
          <p:cNvPr id="7" name="Text 5"/>
          <p:cNvSpPr/>
          <p:nvPr/>
        </p:nvSpPr>
        <p:spPr>
          <a:xfrm>
            <a:off x="1097280" y="2651760"/>
            <a:ext cx="4846320" cy="45720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S-AES mirrors real AES</a:t>
            </a:r>
            <a:endParaRPr lang="en-US" sz="1800" dirty="0"/>
          </a:p>
        </p:txBody>
      </p:sp>
      <p:sp>
        <p:nvSpPr>
          <p:cNvPr id="8" name="Text 6"/>
          <p:cNvSpPr/>
          <p:nvPr/>
        </p:nvSpPr>
        <p:spPr>
          <a:xfrm>
            <a:off x="1097280" y="3108960"/>
            <a:ext cx="4846320" cy="822960"/>
          </a:xfrm>
          <a:prstGeom prst="rect">
            <a:avLst/>
          </a:prstGeom>
          <a:noFill/>
        </p:spPr>
        <p:txBody>
          <a:bodyPr wrap="square" lIns="0" tIns="0" rIns="0" bIns="0" rtlCol="0" anchor="ctr"/>
          <a:lstStyle/>
          <a:p>
            <a:pPr marL="0" indent="0">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Same building blocks (SubBytes, ShiftRows, MixColumns, KeyExpansion) just with smaller parameters, making the math tractable by hand.</a:t>
            </a:r>
            <a:endParaRPr lang="en-US" sz="1200" dirty="0"/>
          </a:p>
        </p:txBody>
      </p:sp>
      <p:sp>
        <p:nvSpPr>
          <p:cNvPr id="9" name="Shape 7"/>
          <p:cNvSpPr/>
          <p:nvPr/>
        </p:nvSpPr>
        <p:spPr>
          <a:xfrm>
            <a:off x="6492240" y="1920240"/>
            <a:ext cx="5394960" cy="2057400"/>
          </a:xfrm>
          <a:prstGeom prst="rect">
            <a:avLst/>
          </a:prstGeom>
          <a:solidFill>
            <a:srgbClr val="2D3561"/>
          </a:solidFill>
          <a:ln w="12700">
            <a:solidFill>
              <a:srgbClr val="3A4370"/>
            </a:solidFill>
            <a:prstDash val="solid"/>
          </a:ln>
        </p:spPr>
      </p:sp>
      <p:sp>
        <p:nvSpPr>
          <p:cNvPr id="10" name="Text 8"/>
          <p:cNvSpPr/>
          <p:nvPr/>
        </p:nvSpPr>
        <p:spPr>
          <a:xfrm>
            <a:off x="6766560" y="2103120"/>
            <a:ext cx="914400" cy="548640"/>
          </a:xfrm>
          <a:prstGeom prst="rect">
            <a:avLst/>
          </a:prstGeom>
          <a:noFill/>
        </p:spPr>
        <p:txBody>
          <a:bodyPr wrap="square" lIns="0" tIns="0" rIns="0" bIns="0" rtlCol="0" anchor="ctr"/>
          <a:lstStyle/>
          <a:p>
            <a:pPr marL="0" indent="0">
              <a:buNone/>
            </a:pPr>
            <a:r>
              <a:rPr lang="en-US" sz="2800" b="1" dirty="0">
                <a:solidFill>
                  <a:srgbClr val="F96167"/>
                </a:solidFill>
                <a:latin typeface="Georgia" panose="02040502050405020303" pitchFamily="34" charset="0"/>
                <a:ea typeface="Georgia" panose="02040502050405020303" pitchFamily="34" charset="-122"/>
                <a:cs typeface="Georgia" panose="02040502050405020303" pitchFamily="34" charset="-120"/>
              </a:rPr>
              <a:t>02</a:t>
            </a:r>
            <a:endParaRPr lang="en-US" sz="2800" dirty="0"/>
          </a:p>
        </p:txBody>
      </p:sp>
      <p:sp>
        <p:nvSpPr>
          <p:cNvPr id="11" name="Text 9"/>
          <p:cNvSpPr/>
          <p:nvPr/>
        </p:nvSpPr>
        <p:spPr>
          <a:xfrm>
            <a:off x="6766560" y="2651760"/>
            <a:ext cx="4846320" cy="45720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CFB mode hides patterns</a:t>
            </a:r>
            <a:endParaRPr lang="en-US" sz="1800" dirty="0"/>
          </a:p>
        </p:txBody>
      </p:sp>
      <p:sp>
        <p:nvSpPr>
          <p:cNvPr id="12" name="Text 10"/>
          <p:cNvSpPr/>
          <p:nvPr/>
        </p:nvSpPr>
        <p:spPr>
          <a:xfrm>
            <a:off x="6766560" y="3108960"/>
            <a:ext cx="4846320" cy="822960"/>
          </a:xfrm>
          <a:prstGeom prst="rect">
            <a:avLst/>
          </a:prstGeom>
          <a:noFill/>
        </p:spPr>
        <p:txBody>
          <a:bodyPr wrap="square" lIns="0" tIns="0" rIns="0" bIns="0" rtlCol="0" anchor="ctr"/>
          <a:lstStyle/>
          <a:p>
            <a:pPr marL="0" indent="0">
              <a:buNone/>
            </a:pPr>
            <a:r>
              <a:rPr lang="en-US" altLang="en-US" sz="1200" dirty="0">
                <a:solidFill>
                  <a:schemeClr val="bg1"/>
                </a:solidFill>
              </a:rPr>
              <a:t>Chaining by XORing plaintext with the encrypted previous ciphertext turns a structured chessboard into noise.</a:t>
            </a:r>
            <a:endParaRPr lang="en-US" altLang="en-US" sz="1200" dirty="0">
              <a:solidFill>
                <a:schemeClr val="bg1"/>
              </a:solidFill>
            </a:endParaRPr>
          </a:p>
        </p:txBody>
      </p:sp>
      <p:sp>
        <p:nvSpPr>
          <p:cNvPr id="13" name="Shape 11"/>
          <p:cNvSpPr/>
          <p:nvPr/>
        </p:nvSpPr>
        <p:spPr>
          <a:xfrm>
            <a:off x="822960" y="4160520"/>
            <a:ext cx="5394960" cy="2057400"/>
          </a:xfrm>
          <a:prstGeom prst="rect">
            <a:avLst/>
          </a:prstGeom>
          <a:solidFill>
            <a:srgbClr val="2D3561"/>
          </a:solidFill>
          <a:ln w="12700">
            <a:solidFill>
              <a:srgbClr val="3A4370"/>
            </a:solidFill>
            <a:prstDash val="solid"/>
          </a:ln>
        </p:spPr>
      </p:sp>
      <p:sp>
        <p:nvSpPr>
          <p:cNvPr id="14" name="Text 12"/>
          <p:cNvSpPr/>
          <p:nvPr/>
        </p:nvSpPr>
        <p:spPr>
          <a:xfrm>
            <a:off x="1097280" y="4343400"/>
            <a:ext cx="914400" cy="548640"/>
          </a:xfrm>
          <a:prstGeom prst="rect">
            <a:avLst/>
          </a:prstGeom>
          <a:noFill/>
        </p:spPr>
        <p:txBody>
          <a:bodyPr wrap="square" lIns="0" tIns="0" rIns="0" bIns="0" rtlCol="0" anchor="ctr"/>
          <a:lstStyle/>
          <a:p>
            <a:pPr marL="0" indent="0">
              <a:buNone/>
            </a:pPr>
            <a:r>
              <a:rPr lang="en-US" sz="2800" b="1" dirty="0">
                <a:solidFill>
                  <a:srgbClr val="F96167"/>
                </a:solidFill>
                <a:latin typeface="Georgia" panose="02040502050405020303" pitchFamily="34" charset="0"/>
                <a:ea typeface="Georgia" panose="02040502050405020303" pitchFamily="34" charset="-122"/>
                <a:cs typeface="Georgia" panose="02040502050405020303" pitchFamily="34" charset="-120"/>
              </a:rPr>
              <a:t>03</a:t>
            </a:r>
            <a:endParaRPr lang="en-US" sz="2800" dirty="0"/>
          </a:p>
        </p:txBody>
      </p:sp>
      <p:sp>
        <p:nvSpPr>
          <p:cNvPr id="15" name="Text 13"/>
          <p:cNvSpPr/>
          <p:nvPr/>
        </p:nvSpPr>
        <p:spPr>
          <a:xfrm>
            <a:off x="1097280" y="4892040"/>
            <a:ext cx="4846320" cy="45720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Both attacks succeeded</a:t>
            </a:r>
            <a:endParaRPr lang="en-US" sz="1800" dirty="0"/>
          </a:p>
        </p:txBody>
      </p:sp>
      <p:sp>
        <p:nvSpPr>
          <p:cNvPr id="16" name="Text 14"/>
          <p:cNvSpPr/>
          <p:nvPr/>
        </p:nvSpPr>
        <p:spPr>
          <a:xfrm>
            <a:off x="1097280" y="5349240"/>
            <a:ext cx="4846320" cy="822960"/>
          </a:xfrm>
          <a:prstGeom prst="rect">
            <a:avLst/>
          </a:prstGeom>
          <a:noFill/>
        </p:spPr>
        <p:txBody>
          <a:bodyPr wrap="square" lIns="0" tIns="0" rIns="0" bIns="0" rtlCol="0" anchor="ctr"/>
          <a:lstStyle/>
          <a:p>
            <a:pPr marL="0" indent="0">
              <a:buNone/>
            </a:pPr>
            <a:r>
              <a:rPr lang="en-US" altLang="en-US" sz="1200" dirty="0">
                <a:solidFill>
                  <a:schemeClr val="bg1"/>
                </a:solidFill>
              </a:rPr>
              <a:t>Known-plaintext recovered the key instantly. Ciphertext-only ranking identified the correct key 0xA73B in 20.48s.</a:t>
            </a:r>
            <a:endParaRPr lang="en-US" altLang="en-US" sz="1200" dirty="0">
              <a:solidFill>
                <a:schemeClr val="bg1"/>
              </a:solidFill>
            </a:endParaRPr>
          </a:p>
        </p:txBody>
      </p:sp>
      <p:sp>
        <p:nvSpPr>
          <p:cNvPr id="17" name="Shape 15"/>
          <p:cNvSpPr/>
          <p:nvPr/>
        </p:nvSpPr>
        <p:spPr>
          <a:xfrm>
            <a:off x="6492240" y="4160520"/>
            <a:ext cx="5394960" cy="2057400"/>
          </a:xfrm>
          <a:prstGeom prst="rect">
            <a:avLst/>
          </a:prstGeom>
          <a:solidFill>
            <a:srgbClr val="2D3561"/>
          </a:solidFill>
          <a:ln w="12700">
            <a:solidFill>
              <a:srgbClr val="3A4370"/>
            </a:solidFill>
            <a:prstDash val="solid"/>
          </a:ln>
        </p:spPr>
      </p:sp>
      <p:sp>
        <p:nvSpPr>
          <p:cNvPr id="18" name="Text 16"/>
          <p:cNvSpPr/>
          <p:nvPr/>
        </p:nvSpPr>
        <p:spPr>
          <a:xfrm>
            <a:off x="6766560" y="4343400"/>
            <a:ext cx="914400" cy="548640"/>
          </a:xfrm>
          <a:prstGeom prst="rect">
            <a:avLst/>
          </a:prstGeom>
          <a:noFill/>
        </p:spPr>
        <p:txBody>
          <a:bodyPr wrap="square" lIns="0" tIns="0" rIns="0" bIns="0" rtlCol="0" anchor="ctr"/>
          <a:lstStyle/>
          <a:p>
            <a:pPr marL="0" indent="0">
              <a:buNone/>
            </a:pPr>
            <a:r>
              <a:rPr lang="en-US" sz="2800" b="1" dirty="0">
                <a:solidFill>
                  <a:srgbClr val="F96167"/>
                </a:solidFill>
                <a:latin typeface="Georgia" panose="02040502050405020303" pitchFamily="34" charset="0"/>
                <a:ea typeface="Georgia" panose="02040502050405020303" pitchFamily="34" charset="-122"/>
                <a:cs typeface="Georgia" panose="02040502050405020303" pitchFamily="34" charset="-120"/>
              </a:rPr>
              <a:t>04</a:t>
            </a:r>
            <a:endParaRPr lang="en-US" sz="2800" dirty="0"/>
          </a:p>
        </p:txBody>
      </p:sp>
      <p:sp>
        <p:nvSpPr>
          <p:cNvPr id="19" name="Text 17"/>
          <p:cNvSpPr/>
          <p:nvPr/>
        </p:nvSpPr>
        <p:spPr>
          <a:xfrm>
            <a:off x="6766560" y="4892040"/>
            <a:ext cx="4846320" cy="45720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size is everything</a:t>
            </a:r>
            <a:endParaRPr lang="en-US" sz="1800" dirty="0"/>
          </a:p>
        </p:txBody>
      </p:sp>
      <p:sp>
        <p:nvSpPr>
          <p:cNvPr id="20" name="Text 18"/>
          <p:cNvSpPr/>
          <p:nvPr/>
        </p:nvSpPr>
        <p:spPr>
          <a:xfrm>
            <a:off x="6766560" y="5349240"/>
            <a:ext cx="4846320" cy="822960"/>
          </a:xfrm>
          <a:prstGeom prst="rect">
            <a:avLst/>
          </a:prstGeom>
          <a:noFill/>
        </p:spPr>
        <p:txBody>
          <a:bodyPr wrap="square" lIns="0" tIns="0" rIns="0" bIns="0" rtlCol="0" anchor="ctr"/>
          <a:lstStyle/>
          <a:p>
            <a:pPr marL="0" indent="0">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Going from 16-bit to 128-bit keys turns a 0.5-second attack into one that takes 10^25 years. Security really is just extra bits.</a:t>
            </a:r>
            <a:endParaRPr lang="en-US" sz="1200" dirty="0"/>
          </a:p>
        </p:txBody>
      </p:sp>
      <p:sp>
        <p:nvSpPr>
          <p:cNvPr id="21" name="Shape 19"/>
          <p:cNvSpPr/>
          <p:nvPr/>
        </p:nvSpPr>
        <p:spPr>
          <a:xfrm>
            <a:off x="822960" y="6446520"/>
            <a:ext cx="2743200" cy="0"/>
          </a:xfrm>
          <a:prstGeom prst="line">
            <a:avLst/>
          </a:prstGeom>
          <a:noFill/>
          <a:ln w="25400">
            <a:solidFill>
              <a:srgbClr val="F96167"/>
            </a:solidFill>
            <a:prstDash val="solid"/>
          </a:ln>
        </p:spPr>
      </p:sp>
      <p:sp>
        <p:nvSpPr>
          <p:cNvPr id="22" name="Text 20"/>
          <p:cNvSpPr/>
          <p:nvPr/>
        </p:nvSpPr>
        <p:spPr>
          <a:xfrm>
            <a:off x="822960" y="6537960"/>
            <a:ext cx="10058400" cy="274320"/>
          </a:xfrm>
          <a:prstGeom prst="rect">
            <a:avLst/>
          </a:prstGeom>
          <a:noFill/>
        </p:spPr>
        <p:txBody>
          <a:bodyPr wrap="square" lIns="0" tIns="0" rIns="0" bIns="0" rtlCol="0" anchor="ctr"/>
          <a:lstStyle/>
          <a:p>
            <a:pPr marL="0" indent="0">
              <a:buNone/>
            </a:pPr>
            <a:r>
              <a:rPr lang="en-US" sz="1400" i="1" dirty="0">
                <a:solidFill>
                  <a:srgbClr val="CADCFC"/>
                </a:solidFill>
                <a:latin typeface="Calibri" panose="020F0502020204030204" pitchFamily="34" charset="0"/>
                <a:ea typeface="Calibri" panose="020F0502020204030204" pitchFamily="34" charset="-122"/>
                <a:cs typeface="Calibri" panose="020F0502020204030204"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7453</Words>
  <Application>WPS Presentation</Application>
  <PresentationFormat>On-screen Show (16:9)</PresentationFormat>
  <Paragraphs>481</Paragraphs>
  <Slides>12</Slides>
  <Notes>12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12</vt:i4>
      </vt:variant>
    </vt:vector>
  </HeadingPairs>
  <TitlesOfParts>
    <vt:vector size="31" baseType="lpstr">
      <vt:lpstr>Arial</vt:lpstr>
      <vt:lpstr>SimSun</vt:lpstr>
      <vt:lpstr>Wingdings</vt:lpstr>
      <vt:lpstr>Calibri</vt:lpstr>
      <vt:lpstr>Calibri</vt:lpstr>
      <vt:lpstr>Calibri</vt:lpstr>
      <vt:lpstr>Georgia</vt:lpstr>
      <vt:lpstr>Georgia</vt:lpstr>
      <vt:lpstr>Georgia</vt:lpstr>
      <vt:lpstr>Consolas</vt:lpstr>
      <vt:lpstr>Consolas</vt:lpstr>
      <vt:lpstr>Consolas</vt:lpstr>
      <vt:lpstr>Microsoft YaHei</vt:lpstr>
      <vt:lpstr>Arial Unicode MS</vt:lpstr>
      <vt:lpstr>MS PGothic</vt:lpstr>
      <vt:lpstr>Inter</vt:lpstr>
      <vt:lpstr>Arial</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S-AES with CBC - Cryptography Project</dc:title>
  <dc:creator>Nareg</dc:creator>
  <dc:subject>PptxGenJS Presentation</dc:subject>
  <cp:lastModifiedBy>Jad Stephan</cp:lastModifiedBy>
  <cp:revision>6</cp:revision>
  <dcterms:created xsi:type="dcterms:W3CDTF">2026-04-22T13:24:00Z</dcterms:created>
  <dcterms:modified xsi:type="dcterms:W3CDTF">2026-04-24T20:05:02Z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9759C83F191947ADBD2F6815ABCCD628_12</vt:lpwstr>
  </property>
  <property fmtid="{D5CDD505-2E9C-101B-9397-08002B2CF9AE}" pid="3" name="KSOProductBuildVer">
    <vt:lpwstr>1033-12.1.0.25862</vt:lpwstr>
  </property>
</Properties>
</file>